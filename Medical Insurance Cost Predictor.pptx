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Source Serif Pro Bold" charset="1" panose="02040803050405020204"/>
      <p:regular r:id="rId13"/>
    </p:embeddedFont>
    <p:embeddedFont>
      <p:font typeface="Roboto Bold" charset="1" panose="02000000000000000000"/>
      <p:regular r:id="rId14"/>
    </p:embeddedFont>
    <p:embeddedFont>
      <p:font typeface="Roboto" charset="1" panose="020000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29850" y="1714500"/>
            <a:ext cx="1962150" cy="2362200"/>
          </a:xfrm>
          <a:custGeom>
            <a:avLst/>
            <a:gdLst/>
            <a:ahLst/>
            <a:cxnLst/>
            <a:rect r="r" b="b" t="t" l="l"/>
            <a:pathLst>
              <a:path h="2362200" w="1962150">
                <a:moveTo>
                  <a:pt x="0" y="0"/>
                </a:moveTo>
                <a:lnTo>
                  <a:pt x="1962150" y="0"/>
                </a:lnTo>
                <a:lnTo>
                  <a:pt x="1962150" y="2362200"/>
                </a:lnTo>
                <a:lnTo>
                  <a:pt x="0" y="2362200"/>
                </a:lnTo>
                <a:lnTo>
                  <a:pt x="0" y="0"/>
                </a:lnTo>
                <a:close/>
              </a:path>
            </a:pathLst>
          </a:custGeom>
          <a:blipFill>
            <a:blip r:embed="rId2">
              <a:alphaModFix amt="31000"/>
            </a:blip>
            <a:stretch>
              <a:fillRect l="0" t="0" r="0" b="0"/>
            </a:stretch>
          </a:blipFill>
        </p:spPr>
      </p:sp>
      <p:sp>
        <p:nvSpPr>
          <p:cNvPr name="Freeform 3" id="3"/>
          <p:cNvSpPr/>
          <p:nvPr/>
        </p:nvSpPr>
        <p:spPr>
          <a:xfrm flipH="false" flipV="false" rot="0">
            <a:off x="1170432" y="2138362"/>
            <a:ext cx="8715375" cy="6219825"/>
          </a:xfrm>
          <a:custGeom>
            <a:avLst/>
            <a:gdLst/>
            <a:ahLst/>
            <a:cxnLst/>
            <a:rect r="r" b="b" t="t" l="l"/>
            <a:pathLst>
              <a:path h="6219825" w="8715375">
                <a:moveTo>
                  <a:pt x="0" y="0"/>
                </a:moveTo>
                <a:lnTo>
                  <a:pt x="8715375" y="0"/>
                </a:lnTo>
                <a:lnTo>
                  <a:pt x="8715375" y="6219826"/>
                </a:lnTo>
                <a:lnTo>
                  <a:pt x="0" y="6219826"/>
                </a:lnTo>
                <a:lnTo>
                  <a:pt x="0" y="0"/>
                </a:lnTo>
                <a:close/>
              </a:path>
            </a:pathLst>
          </a:custGeom>
          <a:blipFill>
            <a:blip r:embed="rId3">
              <a:alphaModFix amt="25000"/>
            </a:blip>
            <a:stretch>
              <a:fillRect l="0" t="0" r="0" b="0"/>
            </a:stretch>
          </a:blipFill>
        </p:spPr>
      </p:sp>
      <p:sp>
        <p:nvSpPr>
          <p:cNvPr name="Freeform 4" id="4"/>
          <p:cNvSpPr/>
          <p:nvPr/>
        </p:nvSpPr>
        <p:spPr>
          <a:xfrm flipH="false" flipV="false" rot="0">
            <a:off x="8324850" y="3195828"/>
            <a:ext cx="8934450" cy="4933950"/>
          </a:xfrm>
          <a:custGeom>
            <a:avLst/>
            <a:gdLst/>
            <a:ahLst/>
            <a:cxnLst/>
            <a:rect r="r" b="b" t="t" l="l"/>
            <a:pathLst>
              <a:path h="4933950" w="8934450">
                <a:moveTo>
                  <a:pt x="0" y="0"/>
                </a:moveTo>
                <a:lnTo>
                  <a:pt x="8934450" y="0"/>
                </a:lnTo>
                <a:lnTo>
                  <a:pt x="8934450" y="4933950"/>
                </a:lnTo>
                <a:lnTo>
                  <a:pt x="0" y="4933950"/>
                </a:lnTo>
                <a:lnTo>
                  <a:pt x="0" y="0"/>
                </a:lnTo>
                <a:close/>
              </a:path>
            </a:pathLst>
          </a:custGeom>
          <a:blipFill>
            <a:blip r:embed="rId4">
              <a:alphaModFix amt="34000"/>
            </a:blip>
            <a:stretch>
              <a:fillRect l="0" t="0" r="0" b="0"/>
            </a:stretch>
          </a:blipFill>
        </p:spPr>
      </p:sp>
      <p:sp>
        <p:nvSpPr>
          <p:cNvPr name="Freeform 5" id="5"/>
          <p:cNvSpPr/>
          <p:nvPr/>
        </p:nvSpPr>
        <p:spPr>
          <a:xfrm flipH="false" flipV="false" rot="0">
            <a:off x="8715375" y="4057650"/>
            <a:ext cx="7410450" cy="3438525"/>
          </a:xfrm>
          <a:custGeom>
            <a:avLst/>
            <a:gdLst/>
            <a:ahLst/>
            <a:cxnLst/>
            <a:rect r="r" b="b" t="t" l="l"/>
            <a:pathLst>
              <a:path h="3438525" w="7410450">
                <a:moveTo>
                  <a:pt x="0" y="0"/>
                </a:moveTo>
                <a:lnTo>
                  <a:pt x="7410450" y="0"/>
                </a:lnTo>
                <a:lnTo>
                  <a:pt x="7410450" y="3438525"/>
                </a:lnTo>
                <a:lnTo>
                  <a:pt x="0" y="3438525"/>
                </a:lnTo>
                <a:lnTo>
                  <a:pt x="0" y="0"/>
                </a:lnTo>
                <a:close/>
              </a:path>
            </a:pathLst>
          </a:custGeom>
          <a:blipFill>
            <a:blip r:embed="rId5">
              <a:alphaModFix amt="31000"/>
            </a:blip>
            <a:stretch>
              <a:fillRect l="0" t="0" r="0" b="0"/>
            </a:stretch>
          </a:blipFill>
        </p:spPr>
      </p:sp>
      <p:sp>
        <p:nvSpPr>
          <p:cNvPr name="TextBox 6" id="6"/>
          <p:cNvSpPr txBox="true"/>
          <p:nvPr/>
        </p:nvSpPr>
        <p:spPr>
          <a:xfrm rot="0">
            <a:off x="1235824" y="3896716"/>
            <a:ext cx="15846552" cy="1037615"/>
          </a:xfrm>
          <a:prstGeom prst="rect">
            <a:avLst/>
          </a:prstGeom>
        </p:spPr>
        <p:txBody>
          <a:bodyPr anchor="t" rtlCol="false" tIns="0" lIns="0" bIns="0" rIns="0">
            <a:spAutoFit/>
          </a:bodyPr>
          <a:lstStyle/>
          <a:p>
            <a:pPr algn="l">
              <a:lnSpc>
                <a:spcPts val="7851"/>
              </a:lnSpc>
            </a:pPr>
            <a:r>
              <a:rPr lang="en-US" sz="7851" b="true">
                <a:solidFill>
                  <a:srgbClr val="003C5B"/>
                </a:solidFill>
                <a:latin typeface="Source Serif Pro Bold"/>
                <a:ea typeface="Source Serif Pro Bold"/>
                <a:cs typeface="Source Serif Pro Bold"/>
                <a:sym typeface="Source Serif Pro Bold"/>
              </a:rPr>
              <a:t>Medical Insurance Cost Predictor</a:t>
            </a:r>
          </a:p>
        </p:txBody>
      </p:sp>
      <p:sp>
        <p:nvSpPr>
          <p:cNvPr name="TextBox 7" id="7"/>
          <p:cNvSpPr txBox="true"/>
          <p:nvPr/>
        </p:nvSpPr>
        <p:spPr>
          <a:xfrm rot="0">
            <a:off x="1170432" y="5586603"/>
            <a:ext cx="4357688" cy="1321733"/>
          </a:xfrm>
          <a:prstGeom prst="rect">
            <a:avLst/>
          </a:prstGeom>
        </p:spPr>
        <p:txBody>
          <a:bodyPr anchor="t" rtlCol="false" tIns="0" lIns="0" bIns="0" rIns="0">
            <a:spAutoFit/>
          </a:bodyPr>
          <a:lstStyle/>
          <a:p>
            <a:pPr algn="l">
              <a:lnSpc>
                <a:spcPts val="3578"/>
              </a:lnSpc>
            </a:pPr>
            <a:r>
              <a:rPr lang="en-US" sz="2385" b="true">
                <a:solidFill>
                  <a:srgbClr val="003C5B"/>
                </a:solidFill>
                <a:latin typeface="Source Serif Pro Bold"/>
                <a:ea typeface="Source Serif Pro Bold"/>
                <a:cs typeface="Source Serif Pro Bold"/>
                <a:sym typeface="Source Serif Pro Bold"/>
              </a:rPr>
              <a:t>Team members:</a:t>
            </a:r>
          </a:p>
          <a:p>
            <a:pPr algn="l">
              <a:lnSpc>
                <a:spcPts val="3578"/>
              </a:lnSpc>
            </a:pPr>
            <a:r>
              <a:rPr lang="en-US" sz="2385" b="true">
                <a:solidFill>
                  <a:srgbClr val="003C5B"/>
                </a:solidFill>
                <a:latin typeface="Source Serif Pro Bold"/>
                <a:ea typeface="Source Serif Pro Bold"/>
                <a:cs typeface="Source Serif Pro Bold"/>
                <a:sym typeface="Source Serif Pro Bold"/>
              </a:rPr>
              <a:t>P. Hansini - 2420030239</a:t>
            </a:r>
          </a:p>
          <a:p>
            <a:pPr algn="l">
              <a:lnSpc>
                <a:spcPts val="3578"/>
              </a:lnSpc>
              <a:spcBef>
                <a:spcPct val="0"/>
              </a:spcBef>
            </a:pPr>
            <a:r>
              <a:rPr lang="en-US" b="true" sz="2385">
                <a:solidFill>
                  <a:srgbClr val="003C5B"/>
                </a:solidFill>
                <a:latin typeface="Source Serif Pro Bold"/>
                <a:ea typeface="Source Serif Pro Bold"/>
                <a:cs typeface="Source Serif Pro Bold"/>
                <a:sym typeface="Source Serif Pro Bold"/>
              </a:rPr>
              <a:t>G. Sreevarsha - 2420030241</a:t>
            </a:r>
          </a:p>
        </p:txBody>
      </p:sp>
      <p:sp>
        <p:nvSpPr>
          <p:cNvPr name="AutoShape 8" id="8"/>
          <p:cNvSpPr/>
          <p:nvPr/>
        </p:nvSpPr>
        <p:spPr>
          <a:xfrm>
            <a:off x="2698864" y="4934331"/>
            <a:ext cx="12890271" cy="0"/>
          </a:xfrm>
          <a:prstGeom prst="line">
            <a:avLst/>
          </a:prstGeom>
          <a:ln cap="flat" w="38100">
            <a:solidFill>
              <a:srgbClr val="000000">
                <a:alpha val="44706"/>
              </a:srgbClr>
            </a:solidFill>
            <a:prstDash val="solid"/>
            <a:headEnd type="none" len="sm" w="sm"/>
            <a:tailEnd type="none" len="sm" w="sm"/>
          </a:ln>
        </p:spPr>
      </p:sp>
      <p:sp>
        <p:nvSpPr>
          <p:cNvPr name="TextBox 9" id="9"/>
          <p:cNvSpPr txBox="true"/>
          <p:nvPr/>
        </p:nvSpPr>
        <p:spPr>
          <a:xfrm rot="0">
            <a:off x="1135457" y="7319930"/>
            <a:ext cx="1941909" cy="809848"/>
          </a:xfrm>
          <a:prstGeom prst="rect">
            <a:avLst/>
          </a:prstGeom>
        </p:spPr>
        <p:txBody>
          <a:bodyPr anchor="t" rtlCol="false" tIns="0" lIns="0" bIns="0" rIns="0">
            <a:spAutoFit/>
          </a:bodyPr>
          <a:lstStyle/>
          <a:p>
            <a:pPr algn="ctr">
              <a:lnSpc>
                <a:spcPts val="3366"/>
              </a:lnSpc>
            </a:pPr>
            <a:r>
              <a:rPr lang="en-US" sz="2244" b="true">
                <a:solidFill>
                  <a:srgbClr val="003C5B"/>
                </a:solidFill>
                <a:latin typeface="Source Serif Pro Bold"/>
                <a:ea typeface="Source Serif Pro Bold"/>
                <a:cs typeface="Source Serif Pro Bold"/>
                <a:sym typeface="Source Serif Pro Bold"/>
              </a:rPr>
              <a:t>Project Guide:</a:t>
            </a:r>
          </a:p>
          <a:p>
            <a:pPr algn="ctr">
              <a:lnSpc>
                <a:spcPts val="3366"/>
              </a:lnSpc>
              <a:spcBef>
                <a:spcPct val="0"/>
              </a:spcBef>
            </a:pPr>
            <a:r>
              <a:rPr lang="en-US" b="true" sz="2244">
                <a:solidFill>
                  <a:srgbClr val="003C5B"/>
                </a:solidFill>
                <a:latin typeface="Source Serif Pro Bold"/>
                <a:ea typeface="Source Serif Pro Bold"/>
                <a:cs typeface="Source Serif Pro Bold"/>
                <a:sym typeface="Source Serif Pro Bold"/>
              </a:rPr>
              <a:t>Dr. N. Sunanda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5840075" y="0"/>
            <a:ext cx="2838450" cy="10287000"/>
          </a:xfrm>
          <a:custGeom>
            <a:avLst/>
            <a:gdLst/>
            <a:ahLst/>
            <a:cxnLst/>
            <a:rect r="r" b="b" t="t" l="l"/>
            <a:pathLst>
              <a:path h="10287000" w="2838450">
                <a:moveTo>
                  <a:pt x="0" y="0"/>
                </a:moveTo>
                <a:lnTo>
                  <a:pt x="2838450" y="0"/>
                </a:lnTo>
                <a:lnTo>
                  <a:pt x="2838450" y="10287000"/>
                </a:lnTo>
                <a:lnTo>
                  <a:pt x="0" y="10287000"/>
                </a:lnTo>
                <a:lnTo>
                  <a:pt x="0" y="0"/>
                </a:lnTo>
                <a:close/>
              </a:path>
            </a:pathLst>
          </a:custGeom>
          <a:blipFill>
            <a:blip r:embed="rId3">
              <a:alphaModFix amt="65000"/>
            </a:blip>
            <a:stretch>
              <a:fillRect l="0" t="0" r="0" b="0"/>
            </a:stretch>
          </a:blipFill>
          <a:ln cap="sq">
            <a:noFill/>
            <a:prstDash val="solid"/>
            <a:miter/>
          </a:ln>
        </p:spPr>
      </p:sp>
      <p:sp>
        <p:nvSpPr>
          <p:cNvPr name="TextBox 4" id="4"/>
          <p:cNvSpPr txBox="true"/>
          <p:nvPr/>
        </p:nvSpPr>
        <p:spPr>
          <a:xfrm rot="0">
            <a:off x="566928" y="721129"/>
            <a:ext cx="7819835" cy="1166494"/>
          </a:xfrm>
          <a:prstGeom prst="rect">
            <a:avLst/>
          </a:prstGeom>
        </p:spPr>
        <p:txBody>
          <a:bodyPr anchor="t" rtlCol="false" tIns="0" lIns="0" bIns="0" rIns="0">
            <a:spAutoFit/>
          </a:bodyPr>
          <a:lstStyle/>
          <a:p>
            <a:pPr algn="l">
              <a:lnSpc>
                <a:spcPts val="8799"/>
              </a:lnSpc>
            </a:pPr>
            <a:r>
              <a:rPr lang="en-US" sz="8799" spc="-175" b="true">
                <a:solidFill>
                  <a:srgbClr val="00334D"/>
                </a:solidFill>
                <a:latin typeface="Source Serif Pro Bold"/>
                <a:ea typeface="Source Serif Pro Bold"/>
                <a:cs typeface="Source Serif Pro Bold"/>
                <a:sym typeface="Source Serif Pro Bold"/>
              </a:rPr>
              <a:t>Introduction</a:t>
            </a:r>
          </a:p>
        </p:txBody>
      </p:sp>
      <p:sp>
        <p:nvSpPr>
          <p:cNvPr name="Freeform 5" id="5"/>
          <p:cNvSpPr/>
          <p:nvPr/>
        </p:nvSpPr>
        <p:spPr>
          <a:xfrm flipH="false" flipV="false" rot="0">
            <a:off x="428625" y="1810157"/>
            <a:ext cx="11082630" cy="285443"/>
          </a:xfrm>
          <a:custGeom>
            <a:avLst/>
            <a:gdLst/>
            <a:ahLst/>
            <a:cxnLst/>
            <a:rect r="r" b="b" t="t" l="l"/>
            <a:pathLst>
              <a:path h="285443" w="11082630">
                <a:moveTo>
                  <a:pt x="0" y="0"/>
                </a:moveTo>
                <a:lnTo>
                  <a:pt x="11082630" y="0"/>
                </a:lnTo>
                <a:lnTo>
                  <a:pt x="11082630" y="285443"/>
                </a:lnTo>
                <a:lnTo>
                  <a:pt x="0" y="285443"/>
                </a:lnTo>
                <a:lnTo>
                  <a:pt x="0" y="0"/>
                </a:lnTo>
                <a:close/>
              </a:path>
            </a:pathLst>
          </a:custGeom>
          <a:blipFill>
            <a:blip r:embed="rId4">
              <a:alphaModFix amt="81000"/>
            </a:blip>
            <a:stretch>
              <a:fillRect l="0" t="0" r="0" b="0"/>
            </a:stretch>
          </a:blipFill>
        </p:spPr>
      </p:sp>
      <p:sp>
        <p:nvSpPr>
          <p:cNvPr name="TextBox 6" id="6"/>
          <p:cNvSpPr txBox="true"/>
          <p:nvPr/>
        </p:nvSpPr>
        <p:spPr>
          <a:xfrm rot="0">
            <a:off x="530352" y="2384983"/>
            <a:ext cx="8613648" cy="1145441"/>
          </a:xfrm>
          <a:prstGeom prst="rect">
            <a:avLst/>
          </a:prstGeom>
        </p:spPr>
        <p:txBody>
          <a:bodyPr anchor="t" rtlCol="false" tIns="0" lIns="0" bIns="0" rIns="0">
            <a:spAutoFit/>
          </a:bodyPr>
          <a:lstStyle/>
          <a:p>
            <a:pPr algn="l">
              <a:lnSpc>
                <a:spcPts val="4590"/>
              </a:lnSpc>
            </a:pPr>
            <a:r>
              <a:rPr lang="en-US" sz="3278" b="true">
                <a:solidFill>
                  <a:srgbClr val="00334D"/>
                </a:solidFill>
                <a:latin typeface="Roboto Bold"/>
                <a:ea typeface="Roboto Bold"/>
                <a:cs typeface="Roboto Bold"/>
                <a:sym typeface="Roboto Bold"/>
              </a:rPr>
              <a:t>An intelligent solution that estimates medical insurance costs using machine learning.</a:t>
            </a:r>
          </a:p>
        </p:txBody>
      </p:sp>
      <p:sp>
        <p:nvSpPr>
          <p:cNvPr name="Freeform 7" id="7"/>
          <p:cNvSpPr/>
          <p:nvPr/>
        </p:nvSpPr>
        <p:spPr>
          <a:xfrm flipH="false" flipV="false" rot="0">
            <a:off x="319088" y="4198690"/>
            <a:ext cx="8067675" cy="4544809"/>
          </a:xfrm>
          <a:custGeom>
            <a:avLst/>
            <a:gdLst/>
            <a:ahLst/>
            <a:cxnLst/>
            <a:rect r="r" b="b" t="t" l="l"/>
            <a:pathLst>
              <a:path h="4544809" w="8067675">
                <a:moveTo>
                  <a:pt x="0" y="0"/>
                </a:moveTo>
                <a:lnTo>
                  <a:pt x="8067674" y="0"/>
                </a:lnTo>
                <a:lnTo>
                  <a:pt x="8067674" y="4544809"/>
                </a:lnTo>
                <a:lnTo>
                  <a:pt x="0" y="4544809"/>
                </a:lnTo>
                <a:lnTo>
                  <a:pt x="0" y="0"/>
                </a:lnTo>
                <a:close/>
              </a:path>
            </a:pathLst>
          </a:custGeom>
          <a:blipFill>
            <a:blip r:embed="rId5"/>
            <a:stretch>
              <a:fillRect l="0" t="0" r="0" b="-17993"/>
            </a:stretch>
          </a:blipFill>
        </p:spPr>
      </p:sp>
      <p:sp>
        <p:nvSpPr>
          <p:cNvPr name="TextBox 8" id="8"/>
          <p:cNvSpPr txBox="true"/>
          <p:nvPr/>
        </p:nvSpPr>
        <p:spPr>
          <a:xfrm rot="0">
            <a:off x="802636" y="4548210"/>
            <a:ext cx="6089904" cy="828898"/>
          </a:xfrm>
          <a:prstGeom prst="rect">
            <a:avLst/>
          </a:prstGeom>
        </p:spPr>
        <p:txBody>
          <a:bodyPr anchor="t" rtlCol="false" tIns="0" lIns="0" bIns="0" rIns="0">
            <a:spAutoFit/>
          </a:bodyPr>
          <a:lstStyle/>
          <a:p>
            <a:pPr algn="l">
              <a:lnSpc>
                <a:spcPts val="3366"/>
              </a:lnSpc>
            </a:pPr>
            <a:r>
              <a:rPr lang="en-US" sz="2244">
                <a:solidFill>
                  <a:srgbClr val="00334D"/>
                </a:solidFill>
                <a:latin typeface="Roboto"/>
                <a:ea typeface="Roboto"/>
                <a:cs typeface="Roboto"/>
                <a:sym typeface="Roboto"/>
              </a:rPr>
              <a:t>Considers key factors such as age, BMI, smoking status, dependents, gender, and region</a:t>
            </a:r>
          </a:p>
        </p:txBody>
      </p:sp>
      <p:sp>
        <p:nvSpPr>
          <p:cNvPr name="Freeform 9" id="9"/>
          <p:cNvSpPr/>
          <p:nvPr/>
        </p:nvSpPr>
        <p:spPr>
          <a:xfrm flipH="false" flipV="false" rot="0">
            <a:off x="647700" y="5613312"/>
            <a:ext cx="7410450" cy="219075"/>
          </a:xfrm>
          <a:custGeom>
            <a:avLst/>
            <a:gdLst/>
            <a:ahLst/>
            <a:cxnLst/>
            <a:rect r="r" b="b" t="t" l="l"/>
            <a:pathLst>
              <a:path h="219075" w="7410450">
                <a:moveTo>
                  <a:pt x="0" y="0"/>
                </a:moveTo>
                <a:lnTo>
                  <a:pt x="7410450" y="0"/>
                </a:lnTo>
                <a:lnTo>
                  <a:pt x="7410450" y="219075"/>
                </a:lnTo>
                <a:lnTo>
                  <a:pt x="0" y="219075"/>
                </a:lnTo>
                <a:lnTo>
                  <a:pt x="0" y="0"/>
                </a:lnTo>
                <a:close/>
              </a:path>
            </a:pathLst>
          </a:custGeom>
          <a:blipFill>
            <a:blip r:embed="rId6"/>
            <a:stretch>
              <a:fillRect l="0" t="0" r="0" b="0"/>
            </a:stretch>
          </a:blipFill>
        </p:spPr>
      </p:sp>
      <p:sp>
        <p:nvSpPr>
          <p:cNvPr name="TextBox 10" id="10"/>
          <p:cNvSpPr txBox="true"/>
          <p:nvPr/>
        </p:nvSpPr>
        <p:spPr>
          <a:xfrm rot="0">
            <a:off x="804672" y="6060987"/>
            <a:ext cx="4736592" cy="828898"/>
          </a:xfrm>
          <a:prstGeom prst="rect">
            <a:avLst/>
          </a:prstGeom>
        </p:spPr>
        <p:txBody>
          <a:bodyPr anchor="t" rtlCol="false" tIns="0" lIns="0" bIns="0" rIns="0">
            <a:spAutoFit/>
          </a:bodyPr>
          <a:lstStyle/>
          <a:p>
            <a:pPr algn="l">
              <a:lnSpc>
                <a:spcPts val="3366"/>
              </a:lnSpc>
            </a:pPr>
            <a:r>
              <a:rPr lang="en-US" sz="2244">
                <a:solidFill>
                  <a:srgbClr val="00334D"/>
                </a:solidFill>
                <a:latin typeface="Roboto"/>
                <a:ea typeface="Roboto"/>
                <a:cs typeface="Roboto"/>
                <a:sym typeface="Roboto"/>
              </a:rPr>
              <a:t>Generates preliminary cost estimates</a:t>
            </a:r>
          </a:p>
          <a:p>
            <a:pPr algn="l">
              <a:lnSpc>
                <a:spcPts val="3366"/>
              </a:lnSpc>
            </a:pPr>
            <a:r>
              <a:rPr lang="en-US" sz="2244">
                <a:solidFill>
                  <a:srgbClr val="00334D"/>
                </a:solidFill>
                <a:latin typeface="Roboto"/>
                <a:ea typeface="Roboto"/>
                <a:cs typeface="Roboto"/>
                <a:sym typeface="Roboto"/>
              </a:rPr>
              <a:t>to support informed decision-making</a:t>
            </a:r>
          </a:p>
        </p:txBody>
      </p:sp>
      <p:sp>
        <p:nvSpPr>
          <p:cNvPr name="Freeform 11" id="11"/>
          <p:cNvSpPr/>
          <p:nvPr/>
        </p:nvSpPr>
        <p:spPr>
          <a:xfrm flipH="false" flipV="false" rot="0">
            <a:off x="647700" y="7194685"/>
            <a:ext cx="7410450" cy="219075"/>
          </a:xfrm>
          <a:custGeom>
            <a:avLst/>
            <a:gdLst/>
            <a:ahLst/>
            <a:cxnLst/>
            <a:rect r="r" b="b" t="t" l="l"/>
            <a:pathLst>
              <a:path h="219075" w="7410450">
                <a:moveTo>
                  <a:pt x="0" y="0"/>
                </a:moveTo>
                <a:lnTo>
                  <a:pt x="7410450" y="0"/>
                </a:lnTo>
                <a:lnTo>
                  <a:pt x="7410450" y="219075"/>
                </a:lnTo>
                <a:lnTo>
                  <a:pt x="0" y="219075"/>
                </a:lnTo>
                <a:lnTo>
                  <a:pt x="0" y="0"/>
                </a:lnTo>
                <a:close/>
              </a:path>
            </a:pathLst>
          </a:custGeom>
          <a:blipFill>
            <a:blip r:embed="rId7"/>
            <a:stretch>
              <a:fillRect l="0" t="0" r="0" b="0"/>
            </a:stretch>
          </a:blipFill>
        </p:spPr>
      </p:sp>
      <p:sp>
        <p:nvSpPr>
          <p:cNvPr name="TextBox 12" id="12"/>
          <p:cNvSpPr txBox="true"/>
          <p:nvPr/>
        </p:nvSpPr>
        <p:spPr>
          <a:xfrm rot="0">
            <a:off x="804672" y="7575685"/>
            <a:ext cx="5266944" cy="829925"/>
          </a:xfrm>
          <a:prstGeom prst="rect">
            <a:avLst/>
          </a:prstGeom>
        </p:spPr>
        <p:txBody>
          <a:bodyPr anchor="t" rtlCol="false" tIns="0" lIns="0" bIns="0" rIns="0">
            <a:spAutoFit/>
          </a:bodyPr>
          <a:lstStyle/>
          <a:p>
            <a:pPr algn="l">
              <a:lnSpc>
                <a:spcPts val="3325"/>
              </a:lnSpc>
            </a:pPr>
            <a:r>
              <a:rPr lang="en-US" sz="2217">
                <a:solidFill>
                  <a:srgbClr val="00334D"/>
                </a:solidFill>
                <a:latin typeface="Roboto"/>
                <a:ea typeface="Roboto"/>
                <a:cs typeface="Roboto"/>
                <a:sym typeface="Roboto"/>
              </a:rPr>
              <a:t>Designed to simplify and accelerate</a:t>
            </a:r>
          </a:p>
          <a:p>
            <a:pPr algn="l">
              <a:lnSpc>
                <a:spcPts val="3325"/>
              </a:lnSpc>
            </a:pPr>
            <a:r>
              <a:rPr lang="en-US" sz="2217">
                <a:solidFill>
                  <a:srgbClr val="00334D"/>
                </a:solidFill>
                <a:latin typeface="Roboto"/>
                <a:ea typeface="Roboto"/>
                <a:cs typeface="Roboto"/>
                <a:sym typeface="Roboto"/>
              </a:rPr>
              <a:t>cost estimation for users and researchers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4400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3">
              <a:alphaModFix amt="31000"/>
            </a:blip>
            <a:stretch>
              <a:fillRect l="-2395" t="0" r="0" b="0"/>
            </a:stretch>
          </a:blipFill>
        </p:spPr>
      </p:sp>
      <p:sp>
        <p:nvSpPr>
          <p:cNvPr name="TextBox 4" id="4"/>
          <p:cNvSpPr txBox="true"/>
          <p:nvPr/>
        </p:nvSpPr>
        <p:spPr>
          <a:xfrm rot="0">
            <a:off x="658368" y="1123950"/>
            <a:ext cx="8654607" cy="1026892"/>
          </a:xfrm>
          <a:prstGeom prst="rect">
            <a:avLst/>
          </a:prstGeom>
        </p:spPr>
        <p:txBody>
          <a:bodyPr anchor="t" rtlCol="false" tIns="0" lIns="0" bIns="0" rIns="0">
            <a:spAutoFit/>
          </a:bodyPr>
          <a:lstStyle/>
          <a:p>
            <a:pPr algn="l">
              <a:lnSpc>
                <a:spcPts val="7842"/>
              </a:lnSpc>
            </a:pPr>
            <a:r>
              <a:rPr lang="en-US" sz="7398" spc="-147" b="true">
                <a:solidFill>
                  <a:srgbClr val="003C64"/>
                </a:solidFill>
                <a:latin typeface="Source Serif Pro Bold"/>
                <a:ea typeface="Source Serif Pro Bold"/>
                <a:cs typeface="Source Serif Pro Bold"/>
                <a:sym typeface="Source Serif Pro Bold"/>
              </a:rPr>
              <a:t>Problem Statement</a:t>
            </a:r>
          </a:p>
        </p:txBody>
      </p:sp>
      <p:sp>
        <p:nvSpPr>
          <p:cNvPr name="Freeform 5" id="5"/>
          <p:cNvSpPr/>
          <p:nvPr/>
        </p:nvSpPr>
        <p:spPr>
          <a:xfrm flipH="false" flipV="false" rot="0">
            <a:off x="454991" y="2359670"/>
            <a:ext cx="12839304" cy="330688"/>
          </a:xfrm>
          <a:custGeom>
            <a:avLst/>
            <a:gdLst/>
            <a:ahLst/>
            <a:cxnLst/>
            <a:rect r="r" b="b" t="t" l="l"/>
            <a:pathLst>
              <a:path h="330688" w="12839304">
                <a:moveTo>
                  <a:pt x="0" y="0"/>
                </a:moveTo>
                <a:lnTo>
                  <a:pt x="12839304" y="0"/>
                </a:lnTo>
                <a:lnTo>
                  <a:pt x="12839304" y="330688"/>
                </a:lnTo>
                <a:lnTo>
                  <a:pt x="0" y="330688"/>
                </a:lnTo>
                <a:lnTo>
                  <a:pt x="0" y="0"/>
                </a:lnTo>
                <a:close/>
              </a:path>
            </a:pathLst>
          </a:custGeom>
          <a:blipFill>
            <a:blip r:embed="rId4">
              <a:alphaModFix amt="62000"/>
            </a:blip>
            <a:stretch>
              <a:fillRect l="0" t="0" r="0" b="0"/>
            </a:stretch>
          </a:blipFill>
        </p:spPr>
      </p:sp>
      <p:sp>
        <p:nvSpPr>
          <p:cNvPr name="TextBox 6" id="6"/>
          <p:cNvSpPr txBox="true"/>
          <p:nvPr/>
        </p:nvSpPr>
        <p:spPr>
          <a:xfrm rot="0">
            <a:off x="631948" y="8439150"/>
            <a:ext cx="8681027" cy="723900"/>
          </a:xfrm>
          <a:prstGeom prst="rect">
            <a:avLst/>
          </a:prstGeom>
        </p:spPr>
        <p:txBody>
          <a:bodyPr anchor="t" rtlCol="false" tIns="0" lIns="0" bIns="0" rIns="0">
            <a:spAutoFit/>
          </a:bodyPr>
          <a:lstStyle/>
          <a:p>
            <a:pPr algn="l">
              <a:lnSpc>
                <a:spcPts val="2879"/>
              </a:lnSpc>
            </a:pPr>
            <a:r>
              <a:rPr lang="en-US" sz="2400" b="true">
                <a:solidFill>
                  <a:srgbClr val="003C64"/>
                </a:solidFill>
                <a:latin typeface="Source Serif Pro Bold"/>
                <a:ea typeface="Source Serif Pro Bold"/>
                <a:cs typeface="Source Serif Pro Bold"/>
                <a:sym typeface="Source Serif Pro Bold"/>
              </a:rPr>
              <a:t>We aim to leverage machine learning to automate and improve the accuracy of cost prediction.</a:t>
            </a:r>
          </a:p>
        </p:txBody>
      </p:sp>
      <p:sp>
        <p:nvSpPr>
          <p:cNvPr name="TextBox 7" id="7"/>
          <p:cNvSpPr txBox="true"/>
          <p:nvPr/>
        </p:nvSpPr>
        <p:spPr>
          <a:xfrm rot="0">
            <a:off x="631948" y="2852283"/>
            <a:ext cx="15926824" cy="2920365"/>
          </a:xfrm>
          <a:prstGeom prst="rect">
            <a:avLst/>
          </a:prstGeom>
        </p:spPr>
        <p:txBody>
          <a:bodyPr anchor="t" rtlCol="false" tIns="0" lIns="0" bIns="0" rIns="0">
            <a:spAutoFit/>
          </a:bodyPr>
          <a:lstStyle/>
          <a:p>
            <a:pPr algn="just">
              <a:lnSpc>
                <a:spcPts val="3359"/>
              </a:lnSpc>
            </a:pPr>
            <a:r>
              <a:rPr lang="en-US" sz="2400" b="true">
                <a:solidFill>
                  <a:srgbClr val="003C64"/>
                </a:solidFill>
                <a:latin typeface="Source Serif Pro Bold"/>
                <a:ea typeface="Source Serif Pro Bold"/>
                <a:cs typeface="Source Serif Pro Bold"/>
                <a:sym typeface="Source Serif Pro Bold"/>
              </a:rPr>
              <a:t>Medical insurance costs vary from person to person depending on factors such as age, gender, BMI, number of children, smoking status, and residential region. Predicting these costs manually can be difficult because multiple factors influence the final insurance charge.</a:t>
            </a:r>
          </a:p>
          <a:p>
            <a:pPr algn="just">
              <a:lnSpc>
                <a:spcPts val="3359"/>
              </a:lnSpc>
            </a:pPr>
          </a:p>
          <a:p>
            <a:pPr algn="just">
              <a:lnSpc>
                <a:spcPts val="3359"/>
              </a:lnSpc>
            </a:pPr>
            <a:r>
              <a:rPr lang="en-US" sz="2400" b="true">
                <a:solidFill>
                  <a:srgbClr val="003C64"/>
                </a:solidFill>
                <a:latin typeface="Source Serif Pro Bold"/>
                <a:ea typeface="Source Serif Pro Bold"/>
                <a:cs typeface="Source Serif Pro Bold"/>
                <a:sym typeface="Source Serif Pro Bold"/>
              </a:rPr>
              <a:t>The project aims to develop a Machine Learning-based system that predicts an individual's medical insurance cost using historical insurance data and relevant demographic, lifestyle, and health-related features.</a:t>
            </a:r>
          </a:p>
          <a:p>
            <a:pPr algn="just">
              <a:lnSpc>
                <a:spcPts val="3359"/>
              </a:lnSpc>
              <a:spcBef>
                <a:spcPct val="0"/>
              </a:spcBef>
            </a:pPr>
          </a:p>
        </p:txBody>
      </p:sp>
      <p:sp>
        <p:nvSpPr>
          <p:cNvPr name="TextBox 8" id="8"/>
          <p:cNvSpPr txBox="true"/>
          <p:nvPr/>
        </p:nvSpPr>
        <p:spPr>
          <a:xfrm rot="0">
            <a:off x="631948" y="5725023"/>
            <a:ext cx="15402074" cy="2141577"/>
          </a:xfrm>
          <a:prstGeom prst="rect">
            <a:avLst/>
          </a:prstGeom>
        </p:spPr>
        <p:txBody>
          <a:bodyPr anchor="t" rtlCol="false" tIns="0" lIns="0" bIns="0" rIns="0">
            <a:spAutoFit/>
          </a:bodyPr>
          <a:lstStyle/>
          <a:p>
            <a:pPr algn="l">
              <a:lnSpc>
                <a:spcPts val="3458"/>
              </a:lnSpc>
              <a:spcBef>
                <a:spcPct val="0"/>
              </a:spcBef>
            </a:pPr>
            <a:r>
              <a:rPr lang="en-US" b="true" sz="2470">
                <a:solidFill>
                  <a:srgbClr val="003C64"/>
                </a:solidFill>
                <a:latin typeface="Source Serif Pro Bold"/>
                <a:ea typeface="Source Serif Pro Bold"/>
                <a:cs typeface="Source Serif Pro Bold"/>
                <a:sym typeface="Source Serif Pro Bold"/>
              </a:rPr>
              <a:t>Real-World Relevance:</a:t>
            </a:r>
          </a:p>
          <a:p>
            <a:pPr algn="l" marL="533291" indent="-266646" lvl="1">
              <a:lnSpc>
                <a:spcPts val="3458"/>
              </a:lnSpc>
              <a:buFont typeface="Arial"/>
              <a:buChar char="•"/>
            </a:pPr>
            <a:r>
              <a:rPr lang="en-US" b="true" sz="2470">
                <a:solidFill>
                  <a:srgbClr val="003C64"/>
                </a:solidFill>
                <a:latin typeface="Source Serif Pro Bold"/>
                <a:ea typeface="Source Serif Pro Bold"/>
                <a:cs typeface="Source Serif Pro Bold"/>
                <a:sym typeface="Source Serif Pro Bold"/>
              </a:rPr>
              <a:t>Medical insurance expenses can differ significantly between individuals.</a:t>
            </a:r>
          </a:p>
          <a:p>
            <a:pPr algn="l" marL="533291" indent="-266646" lvl="1">
              <a:lnSpc>
                <a:spcPts val="3458"/>
              </a:lnSpc>
              <a:buFont typeface="Arial"/>
              <a:buChar char="•"/>
            </a:pPr>
            <a:r>
              <a:rPr lang="en-US" b="true" sz="2470">
                <a:solidFill>
                  <a:srgbClr val="003C64"/>
                </a:solidFill>
                <a:latin typeface="Source Serif Pro Bold"/>
                <a:ea typeface="Source Serif Pro Bold"/>
                <a:cs typeface="Source Serif Pro Bold"/>
                <a:sym typeface="Source Serif Pro Bold"/>
              </a:rPr>
              <a:t>Insurance providers need to understand the factors that influence insurance charges.</a:t>
            </a:r>
          </a:p>
          <a:p>
            <a:pPr algn="l" marL="533291" indent="-266646" lvl="1">
              <a:lnSpc>
                <a:spcPts val="3458"/>
              </a:lnSpc>
              <a:buFont typeface="Arial"/>
              <a:buChar char="•"/>
            </a:pPr>
            <a:r>
              <a:rPr lang="en-US" b="true" sz="2470">
                <a:solidFill>
                  <a:srgbClr val="003C64"/>
                </a:solidFill>
                <a:latin typeface="Source Serif Pro Bold"/>
                <a:ea typeface="Source Serif Pro Bold"/>
                <a:cs typeface="Source Serif Pro Bold"/>
                <a:sym typeface="Source Serif Pro Bold"/>
              </a:rPr>
              <a:t>Cost prediction can help in estimating expected medical insurance expenses.</a:t>
            </a:r>
          </a:p>
          <a:p>
            <a:pPr algn="l" marL="533291" indent="-266646" lvl="1">
              <a:lnSpc>
                <a:spcPts val="3458"/>
              </a:lnSpc>
              <a:buFont typeface="Arial"/>
              <a:buChar char="•"/>
            </a:pPr>
            <a:r>
              <a:rPr lang="en-US" b="true" sz="2470">
                <a:solidFill>
                  <a:srgbClr val="003C64"/>
                </a:solidFill>
                <a:latin typeface="Source Serif Pro Bold"/>
                <a:ea typeface="Source Serif Pro Bold"/>
                <a:cs typeface="Source Serif Pro Bold"/>
                <a:sym typeface="Source Serif Pro Bold"/>
              </a:rPr>
              <a:t>Data analysis can provide insights into which factors have a stronger relationship with insurance costs.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21792" y="720125"/>
            <a:ext cx="10544585" cy="1189793"/>
          </a:xfrm>
          <a:prstGeom prst="rect">
            <a:avLst/>
          </a:prstGeom>
        </p:spPr>
        <p:txBody>
          <a:bodyPr anchor="t" rtlCol="false" tIns="0" lIns="0" bIns="0" rIns="0">
            <a:spAutoFit/>
          </a:bodyPr>
          <a:lstStyle/>
          <a:p>
            <a:pPr algn="l">
              <a:lnSpc>
                <a:spcPts val="8967"/>
              </a:lnSpc>
            </a:pPr>
            <a:r>
              <a:rPr lang="en-US" sz="8967" spc="-179" b="true">
                <a:solidFill>
                  <a:srgbClr val="003049"/>
                </a:solidFill>
                <a:latin typeface="Source Serif Pro Bold"/>
                <a:ea typeface="Source Serif Pro Bold"/>
                <a:cs typeface="Source Serif Pro Bold"/>
                <a:sym typeface="Source Serif Pro Bold"/>
              </a:rPr>
              <a:t>Objectives</a:t>
            </a:r>
          </a:p>
        </p:txBody>
      </p:sp>
      <p:sp>
        <p:nvSpPr>
          <p:cNvPr name="Freeform 4" id="4"/>
          <p:cNvSpPr/>
          <p:nvPr/>
        </p:nvSpPr>
        <p:spPr>
          <a:xfrm flipH="false" flipV="false" rot="0">
            <a:off x="428625" y="1862866"/>
            <a:ext cx="12173242" cy="305994"/>
          </a:xfrm>
          <a:custGeom>
            <a:avLst/>
            <a:gdLst/>
            <a:ahLst/>
            <a:cxnLst/>
            <a:rect r="r" b="b" t="t" l="l"/>
            <a:pathLst>
              <a:path h="305994" w="12173242">
                <a:moveTo>
                  <a:pt x="0" y="0"/>
                </a:moveTo>
                <a:lnTo>
                  <a:pt x="12173242" y="0"/>
                </a:lnTo>
                <a:lnTo>
                  <a:pt x="12173242" y="305994"/>
                </a:lnTo>
                <a:lnTo>
                  <a:pt x="0" y="305994"/>
                </a:lnTo>
                <a:lnTo>
                  <a:pt x="0" y="0"/>
                </a:lnTo>
                <a:close/>
              </a:path>
            </a:pathLst>
          </a:custGeom>
          <a:blipFill>
            <a:blip r:embed="rId3">
              <a:alphaModFix amt="58000"/>
            </a:blip>
            <a:stretch>
              <a:fillRect l="0" t="0" r="0" b="0"/>
            </a:stretch>
          </a:blipFill>
        </p:spPr>
      </p:sp>
      <p:sp>
        <p:nvSpPr>
          <p:cNvPr name="Freeform 5" id="5"/>
          <p:cNvSpPr/>
          <p:nvPr/>
        </p:nvSpPr>
        <p:spPr>
          <a:xfrm flipH="false" flipV="false" rot="0">
            <a:off x="428625" y="2306157"/>
            <a:ext cx="12826357" cy="1046643"/>
          </a:xfrm>
          <a:custGeom>
            <a:avLst/>
            <a:gdLst/>
            <a:ahLst/>
            <a:cxnLst/>
            <a:rect r="r" b="b" t="t" l="l"/>
            <a:pathLst>
              <a:path h="1046643" w="12826357">
                <a:moveTo>
                  <a:pt x="0" y="0"/>
                </a:moveTo>
                <a:lnTo>
                  <a:pt x="12826357" y="0"/>
                </a:lnTo>
                <a:lnTo>
                  <a:pt x="12826357" y="1046643"/>
                </a:lnTo>
                <a:lnTo>
                  <a:pt x="0" y="1046643"/>
                </a:lnTo>
                <a:lnTo>
                  <a:pt x="0" y="0"/>
                </a:lnTo>
                <a:close/>
              </a:path>
            </a:pathLst>
          </a:custGeom>
          <a:blipFill>
            <a:blip r:embed="rId4"/>
            <a:stretch>
              <a:fillRect l="0" t="-38293" r="0" b="-102784"/>
            </a:stretch>
          </a:blipFill>
        </p:spPr>
      </p:sp>
      <p:sp>
        <p:nvSpPr>
          <p:cNvPr name="TextBox 6" id="6"/>
          <p:cNvSpPr txBox="true"/>
          <p:nvPr/>
        </p:nvSpPr>
        <p:spPr>
          <a:xfrm rot="0">
            <a:off x="969264" y="2458539"/>
            <a:ext cx="9087212" cy="465653"/>
          </a:xfrm>
          <a:prstGeom prst="rect">
            <a:avLst/>
          </a:prstGeom>
        </p:spPr>
        <p:txBody>
          <a:bodyPr anchor="t" rtlCol="false" tIns="0" lIns="0" bIns="0" rIns="0">
            <a:spAutoFit/>
          </a:bodyPr>
          <a:lstStyle/>
          <a:p>
            <a:pPr algn="l">
              <a:lnSpc>
                <a:spcPts val="3734"/>
              </a:lnSpc>
            </a:pPr>
            <a:r>
              <a:rPr lang="en-US" sz="2667" spc="53" b="true">
                <a:solidFill>
                  <a:srgbClr val="003049"/>
                </a:solidFill>
                <a:latin typeface="Roboto Bold"/>
                <a:ea typeface="Roboto Bold"/>
                <a:cs typeface="Roboto Bold"/>
                <a:sym typeface="Roboto Bold"/>
              </a:rPr>
              <a:t>Collect and analyze historical medical insurance data.</a:t>
            </a:r>
          </a:p>
        </p:txBody>
      </p:sp>
      <p:sp>
        <p:nvSpPr>
          <p:cNvPr name="Freeform 7" id="7"/>
          <p:cNvSpPr/>
          <p:nvPr/>
        </p:nvSpPr>
        <p:spPr>
          <a:xfrm flipH="false" flipV="false" rot="0">
            <a:off x="428625" y="3529021"/>
            <a:ext cx="12645371" cy="1009650"/>
          </a:xfrm>
          <a:custGeom>
            <a:avLst/>
            <a:gdLst/>
            <a:ahLst/>
            <a:cxnLst/>
            <a:rect r="r" b="b" t="t" l="l"/>
            <a:pathLst>
              <a:path h="1009650" w="12645371">
                <a:moveTo>
                  <a:pt x="0" y="0"/>
                </a:moveTo>
                <a:lnTo>
                  <a:pt x="12645371" y="0"/>
                </a:lnTo>
                <a:lnTo>
                  <a:pt x="12645371" y="1009650"/>
                </a:lnTo>
                <a:lnTo>
                  <a:pt x="0" y="1009650"/>
                </a:lnTo>
                <a:lnTo>
                  <a:pt x="0" y="0"/>
                </a:lnTo>
                <a:close/>
              </a:path>
            </a:pathLst>
          </a:custGeom>
          <a:blipFill>
            <a:blip r:embed="rId5"/>
            <a:stretch>
              <a:fillRect l="0" t="-39691" r="-7565" b="-92940"/>
            </a:stretch>
          </a:blipFill>
        </p:spPr>
      </p:sp>
      <p:sp>
        <p:nvSpPr>
          <p:cNvPr name="TextBox 8" id="8"/>
          <p:cNvSpPr txBox="true"/>
          <p:nvPr/>
        </p:nvSpPr>
        <p:spPr>
          <a:xfrm rot="0">
            <a:off x="939967" y="3606293"/>
            <a:ext cx="11433731" cy="932378"/>
          </a:xfrm>
          <a:prstGeom prst="rect">
            <a:avLst/>
          </a:prstGeom>
        </p:spPr>
        <p:txBody>
          <a:bodyPr anchor="t" rtlCol="false" tIns="0" lIns="0" bIns="0" rIns="0">
            <a:spAutoFit/>
          </a:bodyPr>
          <a:lstStyle/>
          <a:p>
            <a:pPr algn="l">
              <a:lnSpc>
                <a:spcPts val="3734"/>
              </a:lnSpc>
            </a:pPr>
            <a:r>
              <a:rPr lang="en-US" sz="2667" spc="53" b="true">
                <a:solidFill>
                  <a:srgbClr val="003049"/>
                </a:solidFill>
                <a:latin typeface="Roboto Bold"/>
                <a:ea typeface="Roboto Bold"/>
                <a:cs typeface="Roboto Bold"/>
                <a:sym typeface="Roboto Bold"/>
              </a:rPr>
              <a:t>Preprocess the dataset by handling missing values, duplicate records, and inconsistent data.</a:t>
            </a:r>
          </a:p>
        </p:txBody>
      </p:sp>
      <p:sp>
        <p:nvSpPr>
          <p:cNvPr name="Freeform 9" id="9"/>
          <p:cNvSpPr/>
          <p:nvPr/>
        </p:nvSpPr>
        <p:spPr>
          <a:xfrm flipH="false" flipV="false" rot="0">
            <a:off x="428625" y="4719646"/>
            <a:ext cx="12645371" cy="1152525"/>
          </a:xfrm>
          <a:custGeom>
            <a:avLst/>
            <a:gdLst/>
            <a:ahLst/>
            <a:cxnLst/>
            <a:rect r="r" b="b" t="t" l="l"/>
            <a:pathLst>
              <a:path h="1152525" w="12645371">
                <a:moveTo>
                  <a:pt x="0" y="0"/>
                </a:moveTo>
                <a:lnTo>
                  <a:pt x="12645371" y="0"/>
                </a:lnTo>
                <a:lnTo>
                  <a:pt x="12645371" y="1152525"/>
                </a:lnTo>
                <a:lnTo>
                  <a:pt x="0" y="1152525"/>
                </a:lnTo>
                <a:lnTo>
                  <a:pt x="0" y="0"/>
                </a:lnTo>
                <a:close/>
              </a:path>
            </a:pathLst>
          </a:custGeom>
          <a:blipFill>
            <a:blip r:embed="rId5"/>
            <a:stretch>
              <a:fillRect l="0" t="-34770" r="-7565" b="-69021"/>
            </a:stretch>
          </a:blipFill>
        </p:spPr>
      </p:sp>
      <p:sp>
        <p:nvSpPr>
          <p:cNvPr name="TextBox 10" id="10"/>
          <p:cNvSpPr txBox="true"/>
          <p:nvPr/>
        </p:nvSpPr>
        <p:spPr>
          <a:xfrm rot="0">
            <a:off x="1028700" y="4872046"/>
            <a:ext cx="10209733" cy="932307"/>
          </a:xfrm>
          <a:prstGeom prst="rect">
            <a:avLst/>
          </a:prstGeom>
        </p:spPr>
        <p:txBody>
          <a:bodyPr anchor="t" rtlCol="false" tIns="0" lIns="0" bIns="0" rIns="0">
            <a:spAutoFit/>
          </a:bodyPr>
          <a:lstStyle/>
          <a:p>
            <a:pPr algn="l">
              <a:lnSpc>
                <a:spcPts val="3738"/>
              </a:lnSpc>
              <a:spcBef>
                <a:spcPct val="0"/>
              </a:spcBef>
            </a:pPr>
            <a:r>
              <a:rPr lang="en-US" b="true" sz="2670">
                <a:solidFill>
                  <a:srgbClr val="003049"/>
                </a:solidFill>
                <a:latin typeface="Roboto Bold"/>
                <a:ea typeface="Roboto Bold"/>
                <a:cs typeface="Roboto Bold"/>
                <a:sym typeface="Roboto Bold"/>
              </a:rPr>
              <a:t>Perform Exploratory Data Analysis (EDA) to identify relationships between different factors and insurance charges.</a:t>
            </a:r>
          </a:p>
        </p:txBody>
      </p:sp>
      <p:sp>
        <p:nvSpPr>
          <p:cNvPr name="Freeform 11" id="11"/>
          <p:cNvSpPr/>
          <p:nvPr/>
        </p:nvSpPr>
        <p:spPr>
          <a:xfrm flipH="false" flipV="false" rot="0">
            <a:off x="428625" y="6053146"/>
            <a:ext cx="12645371" cy="1152525"/>
          </a:xfrm>
          <a:custGeom>
            <a:avLst/>
            <a:gdLst/>
            <a:ahLst/>
            <a:cxnLst/>
            <a:rect r="r" b="b" t="t" l="l"/>
            <a:pathLst>
              <a:path h="1152525" w="12645371">
                <a:moveTo>
                  <a:pt x="0" y="0"/>
                </a:moveTo>
                <a:lnTo>
                  <a:pt x="12645371" y="0"/>
                </a:lnTo>
                <a:lnTo>
                  <a:pt x="12645371" y="1152525"/>
                </a:lnTo>
                <a:lnTo>
                  <a:pt x="0" y="1152525"/>
                </a:lnTo>
                <a:lnTo>
                  <a:pt x="0" y="0"/>
                </a:lnTo>
                <a:close/>
              </a:path>
            </a:pathLst>
          </a:custGeom>
          <a:blipFill>
            <a:blip r:embed="rId5"/>
            <a:stretch>
              <a:fillRect l="0" t="-34770" r="-7565" b="-69021"/>
            </a:stretch>
          </a:blipFill>
        </p:spPr>
      </p:sp>
      <p:sp>
        <p:nvSpPr>
          <p:cNvPr name="Freeform 12" id="12"/>
          <p:cNvSpPr/>
          <p:nvPr/>
        </p:nvSpPr>
        <p:spPr>
          <a:xfrm flipH="false" flipV="false" rot="0">
            <a:off x="428625" y="7339021"/>
            <a:ext cx="12645371" cy="1152525"/>
          </a:xfrm>
          <a:custGeom>
            <a:avLst/>
            <a:gdLst/>
            <a:ahLst/>
            <a:cxnLst/>
            <a:rect r="r" b="b" t="t" l="l"/>
            <a:pathLst>
              <a:path h="1152525" w="12645371">
                <a:moveTo>
                  <a:pt x="0" y="0"/>
                </a:moveTo>
                <a:lnTo>
                  <a:pt x="12645371" y="0"/>
                </a:lnTo>
                <a:lnTo>
                  <a:pt x="12645371" y="1152525"/>
                </a:lnTo>
                <a:lnTo>
                  <a:pt x="0" y="1152525"/>
                </a:lnTo>
                <a:lnTo>
                  <a:pt x="0" y="0"/>
                </a:lnTo>
                <a:close/>
              </a:path>
            </a:pathLst>
          </a:custGeom>
          <a:blipFill>
            <a:blip r:embed="rId5"/>
            <a:stretch>
              <a:fillRect l="0" t="-34770" r="-7565" b="-69021"/>
            </a:stretch>
          </a:blipFill>
        </p:spPr>
      </p:sp>
      <p:sp>
        <p:nvSpPr>
          <p:cNvPr name="TextBox 13" id="13"/>
          <p:cNvSpPr txBox="true"/>
          <p:nvPr/>
        </p:nvSpPr>
        <p:spPr>
          <a:xfrm rot="0">
            <a:off x="1028700" y="6129346"/>
            <a:ext cx="6986016" cy="932378"/>
          </a:xfrm>
          <a:prstGeom prst="rect">
            <a:avLst/>
          </a:prstGeom>
        </p:spPr>
        <p:txBody>
          <a:bodyPr anchor="t" rtlCol="false" tIns="0" lIns="0" bIns="0" rIns="0">
            <a:spAutoFit/>
          </a:bodyPr>
          <a:lstStyle/>
          <a:p>
            <a:pPr algn="l">
              <a:lnSpc>
                <a:spcPts val="3734"/>
              </a:lnSpc>
            </a:pPr>
            <a:r>
              <a:rPr lang="en-US" sz="2667" spc="53" b="true">
                <a:solidFill>
                  <a:srgbClr val="003049"/>
                </a:solidFill>
                <a:latin typeface="Roboto Bold"/>
                <a:ea typeface="Roboto Bold"/>
                <a:cs typeface="Roboto Bold"/>
                <a:sym typeface="Roboto Bold"/>
              </a:rPr>
              <a:t>Train and compare regression models (Linear, Decision Tree, Random Forest, etc.)</a:t>
            </a:r>
          </a:p>
        </p:txBody>
      </p:sp>
      <p:sp>
        <p:nvSpPr>
          <p:cNvPr name="TextBox 14" id="14"/>
          <p:cNvSpPr txBox="true"/>
          <p:nvPr/>
        </p:nvSpPr>
        <p:spPr>
          <a:xfrm rot="0">
            <a:off x="906087" y="7386646"/>
            <a:ext cx="11218318" cy="1399032"/>
          </a:xfrm>
          <a:prstGeom prst="rect">
            <a:avLst/>
          </a:prstGeom>
        </p:spPr>
        <p:txBody>
          <a:bodyPr anchor="t" rtlCol="false" tIns="0" lIns="0" bIns="0" rIns="0">
            <a:spAutoFit/>
          </a:bodyPr>
          <a:lstStyle/>
          <a:p>
            <a:pPr algn="just">
              <a:lnSpc>
                <a:spcPts val="3738"/>
              </a:lnSpc>
            </a:pPr>
            <a:r>
              <a:rPr lang="en-US" sz="2670" b="true">
                <a:solidFill>
                  <a:srgbClr val="003049"/>
                </a:solidFill>
                <a:latin typeface="Roboto Bold"/>
                <a:ea typeface="Roboto Bold"/>
                <a:cs typeface="Roboto Bold"/>
                <a:sym typeface="Roboto Bold"/>
              </a:rPr>
              <a:t>Evaluate the models using:</a:t>
            </a:r>
          </a:p>
          <a:p>
            <a:pPr algn="just">
              <a:lnSpc>
                <a:spcPts val="3738"/>
              </a:lnSpc>
            </a:pPr>
            <a:r>
              <a:rPr lang="en-US" sz="2670" b="true">
                <a:solidFill>
                  <a:srgbClr val="003049"/>
                </a:solidFill>
                <a:latin typeface="Roboto Bold"/>
                <a:ea typeface="Roboto Bold"/>
                <a:cs typeface="Roboto Bold"/>
                <a:sym typeface="Roboto Bold"/>
              </a:rPr>
              <a:t>(MAE (Mean Absolute Error), RMSE (Root Mean Square Error), R² Score)</a:t>
            </a:r>
          </a:p>
          <a:p>
            <a:pPr algn="just">
              <a:lnSpc>
                <a:spcPts val="3738"/>
              </a:lnSpc>
              <a:spcBef>
                <a:spcPct val="0"/>
              </a:spcBef>
            </a:pPr>
          </a:p>
        </p:txBody>
      </p:sp>
      <p:sp>
        <p:nvSpPr>
          <p:cNvPr name="Freeform 15" id="15"/>
          <p:cNvSpPr/>
          <p:nvPr/>
        </p:nvSpPr>
        <p:spPr>
          <a:xfrm flipH="false" flipV="false" rot="0">
            <a:off x="428625" y="8672521"/>
            <a:ext cx="12645371" cy="1152525"/>
          </a:xfrm>
          <a:custGeom>
            <a:avLst/>
            <a:gdLst/>
            <a:ahLst/>
            <a:cxnLst/>
            <a:rect r="r" b="b" t="t" l="l"/>
            <a:pathLst>
              <a:path h="1152525" w="12645371">
                <a:moveTo>
                  <a:pt x="0" y="0"/>
                </a:moveTo>
                <a:lnTo>
                  <a:pt x="12645371" y="0"/>
                </a:lnTo>
                <a:lnTo>
                  <a:pt x="12645371" y="1152525"/>
                </a:lnTo>
                <a:lnTo>
                  <a:pt x="0" y="1152525"/>
                </a:lnTo>
                <a:lnTo>
                  <a:pt x="0" y="0"/>
                </a:lnTo>
                <a:close/>
              </a:path>
            </a:pathLst>
          </a:custGeom>
          <a:blipFill>
            <a:blip r:embed="rId5"/>
            <a:stretch>
              <a:fillRect l="0" t="-34770" r="-7565" b="-69021"/>
            </a:stretch>
          </a:blipFill>
        </p:spPr>
      </p:sp>
      <p:sp>
        <p:nvSpPr>
          <p:cNvPr name="TextBox 16" id="16"/>
          <p:cNvSpPr txBox="true"/>
          <p:nvPr/>
        </p:nvSpPr>
        <p:spPr>
          <a:xfrm rot="0">
            <a:off x="906087" y="8758809"/>
            <a:ext cx="11688727" cy="932307"/>
          </a:xfrm>
          <a:prstGeom prst="rect">
            <a:avLst/>
          </a:prstGeom>
        </p:spPr>
        <p:txBody>
          <a:bodyPr anchor="t" rtlCol="false" tIns="0" lIns="0" bIns="0" rIns="0">
            <a:spAutoFit/>
          </a:bodyPr>
          <a:lstStyle/>
          <a:p>
            <a:pPr algn="l">
              <a:lnSpc>
                <a:spcPts val="3738"/>
              </a:lnSpc>
              <a:spcBef>
                <a:spcPct val="0"/>
              </a:spcBef>
            </a:pPr>
            <a:r>
              <a:rPr lang="en-US" b="true" sz="2670">
                <a:solidFill>
                  <a:srgbClr val="003049"/>
                </a:solidFill>
                <a:latin typeface="Roboto Bold"/>
                <a:ea typeface="Roboto Bold"/>
                <a:cs typeface="Roboto Bold"/>
                <a:sym typeface="Roboto Bold"/>
              </a:rPr>
              <a:t>Use the selected model to predict insurance costs for new individuals based on their input information.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21792" y="720125"/>
            <a:ext cx="10544585" cy="1189793"/>
          </a:xfrm>
          <a:prstGeom prst="rect">
            <a:avLst/>
          </a:prstGeom>
        </p:spPr>
        <p:txBody>
          <a:bodyPr anchor="t" rtlCol="false" tIns="0" lIns="0" bIns="0" rIns="0">
            <a:spAutoFit/>
          </a:bodyPr>
          <a:lstStyle/>
          <a:p>
            <a:pPr algn="l">
              <a:lnSpc>
                <a:spcPts val="8967"/>
              </a:lnSpc>
            </a:pPr>
            <a:r>
              <a:rPr lang="en-US" sz="8967" spc="-179" b="true">
                <a:solidFill>
                  <a:srgbClr val="003049"/>
                </a:solidFill>
                <a:latin typeface="Source Serif Pro Bold"/>
                <a:ea typeface="Source Serif Pro Bold"/>
                <a:cs typeface="Source Serif Pro Bold"/>
                <a:sym typeface="Source Serif Pro Bold"/>
              </a:rPr>
              <a:t>Expected outcomes</a:t>
            </a:r>
          </a:p>
        </p:txBody>
      </p:sp>
      <p:sp>
        <p:nvSpPr>
          <p:cNvPr name="Freeform 4" id="4"/>
          <p:cNvSpPr/>
          <p:nvPr/>
        </p:nvSpPr>
        <p:spPr>
          <a:xfrm flipH="false" flipV="false" rot="0">
            <a:off x="428625" y="1862866"/>
            <a:ext cx="12173242" cy="305994"/>
          </a:xfrm>
          <a:custGeom>
            <a:avLst/>
            <a:gdLst/>
            <a:ahLst/>
            <a:cxnLst/>
            <a:rect r="r" b="b" t="t" l="l"/>
            <a:pathLst>
              <a:path h="305994" w="12173242">
                <a:moveTo>
                  <a:pt x="0" y="0"/>
                </a:moveTo>
                <a:lnTo>
                  <a:pt x="12173242" y="0"/>
                </a:lnTo>
                <a:lnTo>
                  <a:pt x="12173242" y="305994"/>
                </a:lnTo>
                <a:lnTo>
                  <a:pt x="0" y="305994"/>
                </a:lnTo>
                <a:lnTo>
                  <a:pt x="0" y="0"/>
                </a:lnTo>
                <a:close/>
              </a:path>
            </a:pathLst>
          </a:custGeom>
          <a:blipFill>
            <a:blip r:embed="rId3">
              <a:alphaModFix amt="58000"/>
            </a:blip>
            <a:stretch>
              <a:fillRect l="0" t="0" r="0" b="0"/>
            </a:stretch>
          </a:blipFill>
        </p:spPr>
      </p:sp>
      <p:sp>
        <p:nvSpPr>
          <p:cNvPr name="TextBox 5" id="5"/>
          <p:cNvSpPr txBox="true"/>
          <p:nvPr/>
        </p:nvSpPr>
        <p:spPr>
          <a:xfrm rot="0">
            <a:off x="428625" y="2820927"/>
            <a:ext cx="13295995" cy="2660798"/>
          </a:xfrm>
          <a:prstGeom prst="rect">
            <a:avLst/>
          </a:prstGeom>
        </p:spPr>
        <p:txBody>
          <a:bodyPr anchor="t" rtlCol="false" tIns="0" lIns="0" bIns="0" rIns="0">
            <a:spAutoFit/>
          </a:bodyPr>
          <a:lstStyle/>
          <a:p>
            <a:pPr algn="l" marL="540221" indent="-270111" lvl="1">
              <a:lnSpc>
                <a:spcPts val="3503"/>
              </a:lnSpc>
              <a:buFont typeface="Arial"/>
              <a:buChar char="•"/>
            </a:pPr>
            <a:r>
              <a:rPr lang="en-US" b="true" sz="2502">
                <a:solidFill>
                  <a:srgbClr val="003049"/>
                </a:solidFill>
                <a:latin typeface="Source Serif Pro Bold"/>
                <a:ea typeface="Source Serif Pro Bold"/>
                <a:cs typeface="Source Serif Pro Bold"/>
                <a:sym typeface="Source Serif Pro Bold"/>
              </a:rPr>
              <a:t>A cleaned and processed medical insurance dataset.</a:t>
            </a:r>
          </a:p>
          <a:p>
            <a:pPr algn="l" marL="540221" indent="-270111" lvl="1">
              <a:lnSpc>
                <a:spcPts val="3503"/>
              </a:lnSpc>
              <a:buFont typeface="Arial"/>
              <a:buChar char="•"/>
            </a:pPr>
            <a:r>
              <a:rPr lang="en-US" b="true" sz="2502">
                <a:solidFill>
                  <a:srgbClr val="003049"/>
                </a:solidFill>
                <a:latin typeface="Source Serif Pro Bold"/>
                <a:ea typeface="Source Serif Pro Bold"/>
                <a:cs typeface="Source Serif Pro Bold"/>
                <a:sym typeface="Source Serif Pro Bold"/>
              </a:rPr>
              <a:t>Visual and statistical understanding of factors affecting insurance costs.</a:t>
            </a:r>
          </a:p>
          <a:p>
            <a:pPr algn="l" marL="540221" indent="-270111" lvl="1">
              <a:lnSpc>
                <a:spcPts val="3503"/>
              </a:lnSpc>
              <a:buFont typeface="Arial"/>
              <a:buChar char="•"/>
            </a:pPr>
            <a:r>
              <a:rPr lang="en-US" b="true" sz="2502">
                <a:solidFill>
                  <a:srgbClr val="003049"/>
                </a:solidFill>
                <a:latin typeface="Source Serif Pro Bold"/>
                <a:ea typeface="Source Serif Pro Bold"/>
                <a:cs typeface="Source Serif Pro Bold"/>
                <a:sym typeface="Source Serif Pro Bold"/>
              </a:rPr>
              <a:t>Trained regression models for insurance cost prediction.</a:t>
            </a:r>
          </a:p>
          <a:p>
            <a:pPr algn="l" marL="540221" indent="-270111" lvl="1">
              <a:lnSpc>
                <a:spcPts val="3503"/>
              </a:lnSpc>
              <a:buFont typeface="Arial"/>
              <a:buChar char="•"/>
            </a:pPr>
            <a:r>
              <a:rPr lang="en-US" b="true" sz="2502">
                <a:solidFill>
                  <a:srgbClr val="003049"/>
                </a:solidFill>
                <a:latin typeface="Source Serif Pro Bold"/>
                <a:ea typeface="Source Serif Pro Bold"/>
                <a:cs typeface="Source Serif Pro Bold"/>
                <a:sym typeface="Source Serif Pro Bold"/>
              </a:rPr>
              <a:t>Performance comparison of the three models.</a:t>
            </a:r>
          </a:p>
          <a:p>
            <a:pPr algn="l" marL="540221" indent="-270111" lvl="1">
              <a:lnSpc>
                <a:spcPts val="3503"/>
              </a:lnSpc>
              <a:buFont typeface="Arial"/>
              <a:buChar char="•"/>
            </a:pPr>
            <a:r>
              <a:rPr lang="en-US" b="true" sz="2502">
                <a:solidFill>
                  <a:srgbClr val="003049"/>
                </a:solidFill>
                <a:latin typeface="Source Serif Pro Bold"/>
                <a:ea typeface="Source Serif Pro Bold"/>
                <a:cs typeface="Source Serif Pro Bold"/>
                <a:sym typeface="Source Serif Pro Bold"/>
              </a:rPr>
              <a:t>Selection of the best-performing prediction model.</a:t>
            </a:r>
          </a:p>
          <a:p>
            <a:pPr algn="l" marL="540221" indent="-270111" lvl="1">
              <a:lnSpc>
                <a:spcPts val="3503"/>
              </a:lnSpc>
              <a:buFont typeface="Arial"/>
              <a:buChar char="•"/>
            </a:pPr>
            <a:r>
              <a:rPr lang="en-US" b="true" sz="2502">
                <a:solidFill>
                  <a:srgbClr val="003049"/>
                </a:solidFill>
                <a:latin typeface="Source Serif Pro Bold"/>
                <a:ea typeface="Source Serif Pro Bold"/>
                <a:cs typeface="Source Serif Pro Bold"/>
                <a:sym typeface="Source Serif Pro Bold"/>
              </a:rPr>
              <a:t>Ability to estimate the insurance cost for a new individual.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5944850" y="0"/>
            <a:ext cx="2628900" cy="10287000"/>
          </a:xfrm>
          <a:custGeom>
            <a:avLst/>
            <a:gdLst/>
            <a:ahLst/>
            <a:cxnLst/>
            <a:rect r="r" b="b" t="t" l="l"/>
            <a:pathLst>
              <a:path h="10287000" w="2628900">
                <a:moveTo>
                  <a:pt x="0" y="0"/>
                </a:moveTo>
                <a:lnTo>
                  <a:pt x="2628900" y="0"/>
                </a:lnTo>
                <a:lnTo>
                  <a:pt x="2628900" y="10287000"/>
                </a:lnTo>
                <a:lnTo>
                  <a:pt x="0" y="10287000"/>
                </a:lnTo>
                <a:lnTo>
                  <a:pt x="0" y="0"/>
                </a:lnTo>
                <a:close/>
              </a:path>
            </a:pathLst>
          </a:custGeom>
          <a:blipFill>
            <a:blip r:embed="rId3"/>
            <a:stretch>
              <a:fillRect l="0" t="0" r="0" b="0"/>
            </a:stretch>
          </a:blipFill>
        </p:spPr>
      </p:sp>
      <p:sp>
        <p:nvSpPr>
          <p:cNvPr name="TextBox 4" id="4"/>
          <p:cNvSpPr txBox="true"/>
          <p:nvPr/>
        </p:nvSpPr>
        <p:spPr>
          <a:xfrm rot="0">
            <a:off x="530352" y="369760"/>
            <a:ext cx="14213513" cy="1085850"/>
          </a:xfrm>
          <a:prstGeom prst="rect">
            <a:avLst/>
          </a:prstGeom>
        </p:spPr>
        <p:txBody>
          <a:bodyPr anchor="t" rtlCol="false" tIns="0" lIns="0" bIns="0" rIns="0">
            <a:spAutoFit/>
          </a:bodyPr>
          <a:lstStyle/>
          <a:p>
            <a:pPr algn="l">
              <a:lnSpc>
                <a:spcPts val="8609"/>
              </a:lnSpc>
            </a:pPr>
            <a:r>
              <a:rPr lang="en-US" sz="7174" spc="-286" b="true">
                <a:solidFill>
                  <a:srgbClr val="133E59"/>
                </a:solidFill>
                <a:latin typeface="Source Serif Pro Bold"/>
                <a:ea typeface="Source Serif Pro Bold"/>
                <a:cs typeface="Source Serif Pro Bold"/>
                <a:sym typeface="Source Serif Pro Bold"/>
              </a:rPr>
              <a:t>Literature Survey / Existing System</a:t>
            </a:r>
          </a:p>
        </p:txBody>
      </p:sp>
      <p:sp>
        <p:nvSpPr>
          <p:cNvPr name="Freeform 5" id="5"/>
          <p:cNvSpPr/>
          <p:nvPr/>
        </p:nvSpPr>
        <p:spPr>
          <a:xfrm flipH="false" flipV="false" rot="0">
            <a:off x="428625" y="1455610"/>
            <a:ext cx="11971371" cy="279819"/>
          </a:xfrm>
          <a:custGeom>
            <a:avLst/>
            <a:gdLst/>
            <a:ahLst/>
            <a:cxnLst/>
            <a:rect r="r" b="b" t="t" l="l"/>
            <a:pathLst>
              <a:path h="279819" w="11971371">
                <a:moveTo>
                  <a:pt x="0" y="0"/>
                </a:moveTo>
                <a:lnTo>
                  <a:pt x="11971371" y="0"/>
                </a:lnTo>
                <a:lnTo>
                  <a:pt x="11971371" y="279819"/>
                </a:lnTo>
                <a:lnTo>
                  <a:pt x="0" y="279819"/>
                </a:lnTo>
                <a:lnTo>
                  <a:pt x="0" y="0"/>
                </a:lnTo>
                <a:close/>
              </a:path>
            </a:pathLst>
          </a:custGeom>
          <a:blipFill>
            <a:blip r:embed="rId4">
              <a:alphaModFix amt="47000"/>
            </a:blip>
            <a:stretch>
              <a:fillRect l="0" t="0" r="0" b="0"/>
            </a:stretch>
          </a:blipFill>
        </p:spPr>
      </p:sp>
      <p:sp>
        <p:nvSpPr>
          <p:cNvPr name="Freeform 6" id="6"/>
          <p:cNvSpPr/>
          <p:nvPr/>
        </p:nvSpPr>
        <p:spPr>
          <a:xfrm flipH="false" flipV="false" rot="0">
            <a:off x="428625" y="2225378"/>
            <a:ext cx="2952785" cy="1549995"/>
          </a:xfrm>
          <a:custGeom>
            <a:avLst/>
            <a:gdLst/>
            <a:ahLst/>
            <a:cxnLst/>
            <a:rect r="r" b="b" t="t" l="l"/>
            <a:pathLst>
              <a:path h="1549995" w="2952785">
                <a:moveTo>
                  <a:pt x="0" y="0"/>
                </a:moveTo>
                <a:lnTo>
                  <a:pt x="2952785" y="0"/>
                </a:lnTo>
                <a:lnTo>
                  <a:pt x="2952785" y="1549994"/>
                </a:lnTo>
                <a:lnTo>
                  <a:pt x="0" y="1549994"/>
                </a:lnTo>
                <a:lnTo>
                  <a:pt x="0" y="0"/>
                </a:lnTo>
                <a:close/>
              </a:path>
            </a:pathLst>
          </a:custGeom>
          <a:blipFill>
            <a:blip r:embed="rId5"/>
            <a:stretch>
              <a:fillRect l="0" t="-15576" r="0" b="-53843"/>
            </a:stretch>
          </a:blipFill>
        </p:spPr>
      </p:sp>
      <p:sp>
        <p:nvSpPr>
          <p:cNvPr name="Freeform 7" id="7"/>
          <p:cNvSpPr/>
          <p:nvPr/>
        </p:nvSpPr>
        <p:spPr>
          <a:xfrm flipH="false" flipV="false" rot="0">
            <a:off x="2556783" y="2225378"/>
            <a:ext cx="11755518" cy="1549995"/>
          </a:xfrm>
          <a:custGeom>
            <a:avLst/>
            <a:gdLst/>
            <a:ahLst/>
            <a:cxnLst/>
            <a:rect r="r" b="b" t="t" l="l"/>
            <a:pathLst>
              <a:path h="1549995" w="11755518">
                <a:moveTo>
                  <a:pt x="0" y="0"/>
                </a:moveTo>
                <a:lnTo>
                  <a:pt x="11755518" y="0"/>
                </a:lnTo>
                <a:lnTo>
                  <a:pt x="11755518" y="1549994"/>
                </a:lnTo>
                <a:lnTo>
                  <a:pt x="0" y="1549994"/>
                </a:lnTo>
                <a:lnTo>
                  <a:pt x="0" y="0"/>
                </a:lnTo>
                <a:close/>
              </a:path>
            </a:pathLst>
          </a:custGeom>
          <a:blipFill>
            <a:blip r:embed="rId6"/>
            <a:stretch>
              <a:fillRect l="0" t="-43091" r="0" b="-90030"/>
            </a:stretch>
          </a:blipFill>
        </p:spPr>
      </p:sp>
      <p:sp>
        <p:nvSpPr>
          <p:cNvPr name="TextBox 8" id="8"/>
          <p:cNvSpPr txBox="true"/>
          <p:nvPr/>
        </p:nvSpPr>
        <p:spPr>
          <a:xfrm rot="0">
            <a:off x="847747" y="2612551"/>
            <a:ext cx="2114540" cy="728023"/>
          </a:xfrm>
          <a:prstGeom prst="rect">
            <a:avLst/>
          </a:prstGeom>
        </p:spPr>
        <p:txBody>
          <a:bodyPr anchor="t" rtlCol="false" tIns="0" lIns="0" bIns="0" rIns="0">
            <a:spAutoFit/>
          </a:bodyPr>
          <a:lstStyle/>
          <a:p>
            <a:pPr algn="l">
              <a:lnSpc>
                <a:spcPts val="2906"/>
              </a:lnSpc>
              <a:spcBef>
                <a:spcPct val="0"/>
              </a:spcBef>
            </a:pPr>
            <a:r>
              <a:rPr lang="en-US" b="true" sz="2075" spc="41">
                <a:solidFill>
                  <a:srgbClr val="FFFFFF"/>
                </a:solidFill>
                <a:latin typeface="Source Serif Pro Bold"/>
                <a:ea typeface="Source Serif Pro Bold"/>
                <a:cs typeface="Source Serif Pro Bold"/>
                <a:sym typeface="Source Serif Pro Bold"/>
              </a:rPr>
              <a:t>Existing Solutions</a:t>
            </a:r>
          </a:p>
        </p:txBody>
      </p:sp>
      <p:sp>
        <p:nvSpPr>
          <p:cNvPr name="TextBox 9" id="9"/>
          <p:cNvSpPr txBox="true"/>
          <p:nvPr/>
        </p:nvSpPr>
        <p:spPr>
          <a:xfrm rot="0">
            <a:off x="2962288" y="2356054"/>
            <a:ext cx="11656747" cy="1250542"/>
          </a:xfrm>
          <a:prstGeom prst="rect">
            <a:avLst/>
          </a:prstGeom>
        </p:spPr>
        <p:txBody>
          <a:bodyPr anchor="t" rtlCol="false" tIns="0" lIns="0" bIns="0" rIns="0">
            <a:spAutoFit/>
          </a:bodyPr>
          <a:lstStyle/>
          <a:p>
            <a:pPr algn="l">
              <a:lnSpc>
                <a:spcPts val="3397"/>
              </a:lnSpc>
              <a:spcBef>
                <a:spcPct val="0"/>
              </a:spcBef>
            </a:pPr>
            <a:r>
              <a:rPr lang="en-US" b="true" sz="2427" spc="48">
                <a:solidFill>
                  <a:srgbClr val="133E59"/>
                </a:solidFill>
                <a:latin typeface="Source Serif Pro Bold"/>
                <a:ea typeface="Source Serif Pro Bold"/>
                <a:cs typeface="Source Serif Pro Bold"/>
                <a:sym typeface="Source Serif Pro Bold"/>
              </a:rPr>
              <a:t>Existing medical insurance cost prediction approaches commonly use historical insurance datasets and regression-based Machine Learning algorithms to estimate insurance expenses.</a:t>
            </a:r>
          </a:p>
        </p:txBody>
      </p:sp>
      <p:sp>
        <p:nvSpPr>
          <p:cNvPr name="TextBox 10" id="10"/>
          <p:cNvSpPr txBox="true"/>
          <p:nvPr/>
        </p:nvSpPr>
        <p:spPr>
          <a:xfrm rot="0">
            <a:off x="530352" y="4203997"/>
            <a:ext cx="11869644" cy="4656653"/>
          </a:xfrm>
          <a:prstGeom prst="rect">
            <a:avLst/>
          </a:prstGeom>
        </p:spPr>
        <p:txBody>
          <a:bodyPr anchor="t" rtlCol="false" tIns="0" lIns="0" bIns="0" rIns="0">
            <a:spAutoFit/>
          </a:bodyPr>
          <a:lstStyle/>
          <a:p>
            <a:pPr algn="l">
              <a:lnSpc>
                <a:spcPts val="3734"/>
              </a:lnSpc>
            </a:pPr>
            <a:r>
              <a:rPr lang="en-US" sz="2667" spc="53" b="true">
                <a:solidFill>
                  <a:srgbClr val="133E59"/>
                </a:solidFill>
                <a:latin typeface="Source Serif Pro Bold"/>
                <a:ea typeface="Source Serif Pro Bold"/>
                <a:cs typeface="Source Serif Pro Bold"/>
                <a:sym typeface="Source Serif Pro Bold"/>
              </a:rPr>
              <a:t>For this project, the proposed system considers three regression techniques:</a:t>
            </a:r>
          </a:p>
          <a:p>
            <a:pPr algn="l">
              <a:lnSpc>
                <a:spcPts val="3734"/>
              </a:lnSpc>
            </a:pPr>
          </a:p>
          <a:p>
            <a:pPr algn="l" marL="575846" indent="-287923" lvl="1">
              <a:lnSpc>
                <a:spcPts val="3734"/>
              </a:lnSpc>
              <a:buFont typeface="Arial"/>
              <a:buChar char="•"/>
            </a:pPr>
            <a:r>
              <a:rPr lang="en-US" b="true" sz="2667" spc="53">
                <a:solidFill>
                  <a:srgbClr val="133E59"/>
                </a:solidFill>
                <a:latin typeface="Source Serif Pro Bold"/>
                <a:ea typeface="Source Serif Pro Bold"/>
                <a:cs typeface="Source Serif Pro Bold"/>
                <a:sym typeface="Source Serif Pro Bold"/>
              </a:rPr>
              <a:t>Linear Regression – predicts insurance charges based on the relationship between input features and cost.</a:t>
            </a:r>
          </a:p>
          <a:p>
            <a:pPr algn="l" marL="575846" indent="-287923" lvl="1">
              <a:lnSpc>
                <a:spcPts val="3734"/>
              </a:lnSpc>
              <a:buFont typeface="Arial"/>
              <a:buChar char="•"/>
            </a:pPr>
            <a:r>
              <a:rPr lang="en-US" b="true" sz="2667" spc="53">
                <a:solidFill>
                  <a:srgbClr val="133E59"/>
                </a:solidFill>
                <a:latin typeface="Source Serif Pro Bold"/>
                <a:ea typeface="Source Serif Pro Bold"/>
                <a:cs typeface="Source Serif Pro Bold"/>
                <a:sym typeface="Source Serif Pro Bold"/>
              </a:rPr>
              <a:t>Decision Tree Regression – predicts costs by making a sequence of feature-based decisions.</a:t>
            </a:r>
          </a:p>
          <a:p>
            <a:pPr algn="l" marL="575846" indent="-287923" lvl="1">
              <a:lnSpc>
                <a:spcPts val="3734"/>
              </a:lnSpc>
              <a:buFont typeface="Arial"/>
              <a:buChar char="•"/>
            </a:pPr>
            <a:r>
              <a:rPr lang="en-US" b="true" sz="2667" spc="53">
                <a:solidFill>
                  <a:srgbClr val="133E59"/>
                </a:solidFill>
                <a:latin typeface="Source Serif Pro Bold"/>
                <a:ea typeface="Source Serif Pro Bold"/>
                <a:cs typeface="Source Serif Pro Bold"/>
                <a:sym typeface="Source Serif Pro Bold"/>
              </a:rPr>
              <a:t>Random Forest Regression – combines multiple decision trees to improve prediction performance.</a:t>
            </a:r>
          </a:p>
          <a:p>
            <a:pPr algn="just">
              <a:lnSpc>
                <a:spcPts val="3734"/>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76656" y="542741"/>
            <a:ext cx="9509760" cy="1085075"/>
          </a:xfrm>
          <a:prstGeom prst="rect">
            <a:avLst/>
          </a:prstGeom>
        </p:spPr>
        <p:txBody>
          <a:bodyPr anchor="t" rtlCol="false" tIns="0" lIns="0" bIns="0" rIns="0">
            <a:spAutoFit/>
          </a:bodyPr>
          <a:lstStyle/>
          <a:p>
            <a:pPr algn="l">
              <a:lnSpc>
                <a:spcPts val="8434"/>
              </a:lnSpc>
            </a:pPr>
            <a:r>
              <a:rPr lang="en-US" sz="7398" spc="-295" b="true">
                <a:solidFill>
                  <a:srgbClr val="1F3E59"/>
                </a:solidFill>
                <a:latin typeface="Source Serif Pro Bold"/>
                <a:ea typeface="Source Serif Pro Bold"/>
                <a:cs typeface="Source Serif Pro Bold"/>
                <a:sym typeface="Source Serif Pro Bold"/>
              </a:rPr>
              <a:t>Limitation/Gaps</a:t>
            </a:r>
          </a:p>
        </p:txBody>
      </p:sp>
      <p:sp>
        <p:nvSpPr>
          <p:cNvPr name="Freeform 4" id="4"/>
          <p:cNvSpPr/>
          <p:nvPr/>
        </p:nvSpPr>
        <p:spPr>
          <a:xfrm flipH="false" flipV="false" rot="0">
            <a:off x="538162" y="1847850"/>
            <a:ext cx="9153525" cy="219075"/>
          </a:xfrm>
          <a:custGeom>
            <a:avLst/>
            <a:gdLst/>
            <a:ahLst/>
            <a:cxnLst/>
            <a:rect r="r" b="b" t="t" l="l"/>
            <a:pathLst>
              <a:path h="219075" w="9153525">
                <a:moveTo>
                  <a:pt x="0" y="0"/>
                </a:moveTo>
                <a:lnTo>
                  <a:pt x="9153526" y="0"/>
                </a:lnTo>
                <a:lnTo>
                  <a:pt x="9153526" y="219075"/>
                </a:lnTo>
                <a:lnTo>
                  <a:pt x="0" y="219075"/>
                </a:lnTo>
                <a:lnTo>
                  <a:pt x="0" y="0"/>
                </a:lnTo>
                <a:close/>
              </a:path>
            </a:pathLst>
          </a:custGeom>
          <a:blipFill>
            <a:blip r:embed="rId3"/>
            <a:stretch>
              <a:fillRect l="0" t="0" r="0" b="0"/>
            </a:stretch>
          </a:blipFill>
        </p:spPr>
      </p:sp>
      <p:sp>
        <p:nvSpPr>
          <p:cNvPr name="Freeform 5" id="5"/>
          <p:cNvSpPr/>
          <p:nvPr/>
        </p:nvSpPr>
        <p:spPr>
          <a:xfrm flipH="false" flipV="false" rot="0">
            <a:off x="538163" y="2198343"/>
            <a:ext cx="14400749" cy="3759208"/>
          </a:xfrm>
          <a:custGeom>
            <a:avLst/>
            <a:gdLst/>
            <a:ahLst/>
            <a:cxnLst/>
            <a:rect r="r" b="b" t="t" l="l"/>
            <a:pathLst>
              <a:path h="3759208" w="14400749">
                <a:moveTo>
                  <a:pt x="0" y="0"/>
                </a:moveTo>
                <a:lnTo>
                  <a:pt x="14400748" y="0"/>
                </a:lnTo>
                <a:lnTo>
                  <a:pt x="14400748" y="3759209"/>
                </a:lnTo>
                <a:lnTo>
                  <a:pt x="0" y="3759209"/>
                </a:lnTo>
                <a:lnTo>
                  <a:pt x="0" y="0"/>
                </a:lnTo>
                <a:close/>
              </a:path>
            </a:pathLst>
          </a:custGeom>
          <a:blipFill>
            <a:blip r:embed="rId4"/>
            <a:stretch>
              <a:fillRect l="0" t="-26831" r="0" b="-35986"/>
            </a:stretch>
          </a:blipFill>
        </p:spPr>
      </p:sp>
      <p:sp>
        <p:nvSpPr>
          <p:cNvPr name="Freeform 6" id="6"/>
          <p:cNvSpPr/>
          <p:nvPr/>
        </p:nvSpPr>
        <p:spPr>
          <a:xfrm flipH="false" flipV="false" rot="0">
            <a:off x="713232" y="2280883"/>
            <a:ext cx="2487168" cy="514350"/>
          </a:xfrm>
          <a:custGeom>
            <a:avLst/>
            <a:gdLst/>
            <a:ahLst/>
            <a:cxnLst/>
            <a:rect r="r" b="b" t="t" l="l"/>
            <a:pathLst>
              <a:path h="514350" w="2487168">
                <a:moveTo>
                  <a:pt x="0" y="0"/>
                </a:moveTo>
                <a:lnTo>
                  <a:pt x="2487168" y="0"/>
                </a:lnTo>
                <a:lnTo>
                  <a:pt x="2487168" y="514350"/>
                </a:lnTo>
                <a:lnTo>
                  <a:pt x="0" y="514350"/>
                </a:lnTo>
                <a:lnTo>
                  <a:pt x="0" y="0"/>
                </a:lnTo>
                <a:close/>
              </a:path>
            </a:pathLst>
          </a:custGeom>
          <a:blipFill>
            <a:blip r:embed="rId5"/>
            <a:stretch>
              <a:fillRect l="0" t="-5594" r="-24264" b="-31520"/>
            </a:stretch>
          </a:blipFill>
        </p:spPr>
      </p:sp>
      <p:sp>
        <p:nvSpPr>
          <p:cNvPr name="TextBox 7" id="7"/>
          <p:cNvSpPr txBox="true"/>
          <p:nvPr/>
        </p:nvSpPr>
        <p:spPr>
          <a:xfrm rot="0">
            <a:off x="493776" y="2329580"/>
            <a:ext cx="2990088" cy="452669"/>
          </a:xfrm>
          <a:prstGeom prst="rect">
            <a:avLst/>
          </a:prstGeom>
        </p:spPr>
        <p:txBody>
          <a:bodyPr anchor="t" rtlCol="false" tIns="0" lIns="0" bIns="0" rIns="0">
            <a:spAutoFit/>
          </a:bodyPr>
          <a:lstStyle/>
          <a:p>
            <a:pPr algn="ctr">
              <a:lnSpc>
                <a:spcPts val="3612"/>
              </a:lnSpc>
              <a:spcBef>
                <a:spcPct val="0"/>
              </a:spcBef>
            </a:pPr>
            <a:r>
              <a:rPr lang="en-US" b="true" sz="2580" spc="51">
                <a:solidFill>
                  <a:srgbClr val="FFFFFF"/>
                </a:solidFill>
                <a:latin typeface="Roboto Bold"/>
                <a:ea typeface="Roboto Bold"/>
                <a:cs typeface="Roboto Bold"/>
                <a:sym typeface="Roboto Bold"/>
              </a:rPr>
              <a:t>Limitations</a:t>
            </a:r>
          </a:p>
        </p:txBody>
      </p:sp>
      <p:sp>
        <p:nvSpPr>
          <p:cNvPr name="TextBox 8" id="8"/>
          <p:cNvSpPr txBox="true"/>
          <p:nvPr/>
        </p:nvSpPr>
        <p:spPr>
          <a:xfrm rot="0">
            <a:off x="713232" y="3071458"/>
            <a:ext cx="13706914" cy="2979449"/>
          </a:xfrm>
          <a:prstGeom prst="rect">
            <a:avLst/>
          </a:prstGeom>
        </p:spPr>
        <p:txBody>
          <a:bodyPr anchor="t" rtlCol="false" tIns="0" lIns="0" bIns="0" rIns="0">
            <a:spAutoFit/>
          </a:bodyPr>
          <a:lstStyle/>
          <a:p>
            <a:pPr algn="l" marL="521683" indent="-260842" lvl="1">
              <a:lnSpc>
                <a:spcPts val="3382"/>
              </a:lnSpc>
              <a:buFont typeface="Arial"/>
              <a:buChar char="•"/>
            </a:pPr>
            <a:r>
              <a:rPr lang="en-US" b="true" sz="2416" spc="48">
                <a:solidFill>
                  <a:srgbClr val="000000"/>
                </a:solidFill>
                <a:latin typeface="Roboto Bold"/>
                <a:ea typeface="Roboto Bold"/>
                <a:cs typeface="Roboto Bold"/>
                <a:sym typeface="Roboto Bold"/>
              </a:rPr>
              <a:t>Many systems focus mainly on calculating or predicting insurance costs.</a:t>
            </a:r>
          </a:p>
          <a:p>
            <a:pPr algn="l" marL="521683" indent="-260842" lvl="1">
              <a:lnSpc>
                <a:spcPts val="3382"/>
              </a:lnSpc>
              <a:buFont typeface="Arial"/>
              <a:buChar char="•"/>
            </a:pPr>
            <a:r>
              <a:rPr lang="en-US" b="true" sz="2416" spc="48">
                <a:solidFill>
                  <a:srgbClr val="000000"/>
                </a:solidFill>
                <a:latin typeface="Roboto Bold"/>
                <a:ea typeface="Roboto Bold"/>
                <a:cs typeface="Roboto Bold"/>
                <a:sym typeface="Roboto Bold"/>
              </a:rPr>
              <a:t>Some systems use only one machine learning model.</a:t>
            </a:r>
          </a:p>
          <a:p>
            <a:pPr algn="l" marL="521683" indent="-260842" lvl="1">
              <a:lnSpc>
                <a:spcPts val="3382"/>
              </a:lnSpc>
              <a:buFont typeface="Arial"/>
              <a:buChar char="•"/>
            </a:pPr>
            <a:r>
              <a:rPr lang="en-US" b="true" sz="2416" spc="48">
                <a:solidFill>
                  <a:srgbClr val="000000"/>
                </a:solidFill>
                <a:latin typeface="Roboto Bold"/>
                <a:ea typeface="Roboto Bold"/>
                <a:cs typeface="Roboto Bold"/>
                <a:sym typeface="Roboto Bold"/>
              </a:rPr>
              <a:t>Limited analysis of how factors like age, BMI, smoking, and children affect insurance cost.</a:t>
            </a:r>
          </a:p>
          <a:p>
            <a:pPr algn="l" marL="521683" indent="-260842" lvl="1">
              <a:lnSpc>
                <a:spcPts val="3382"/>
              </a:lnSpc>
              <a:buFont typeface="Arial"/>
              <a:buChar char="•"/>
            </a:pPr>
            <a:r>
              <a:rPr lang="en-US" b="true" sz="2416" spc="48">
                <a:solidFill>
                  <a:srgbClr val="000000"/>
                </a:solidFill>
                <a:latin typeface="Roboto Bold"/>
                <a:ea typeface="Roboto Bold"/>
                <a:cs typeface="Roboto Bold"/>
                <a:sym typeface="Roboto Bold"/>
              </a:rPr>
              <a:t>Poor data preprocessing can affect prediction accuracy.</a:t>
            </a:r>
          </a:p>
          <a:p>
            <a:pPr algn="l" marL="521683" indent="-260842" lvl="1">
              <a:lnSpc>
                <a:spcPts val="3382"/>
              </a:lnSpc>
              <a:buFont typeface="Arial"/>
              <a:buChar char="•"/>
            </a:pPr>
            <a:r>
              <a:rPr lang="en-US" b="true" sz="2416" spc="48">
                <a:solidFill>
                  <a:srgbClr val="000000"/>
                </a:solidFill>
                <a:latin typeface="Roboto Bold"/>
                <a:ea typeface="Roboto Bold"/>
                <a:cs typeface="Roboto Bold"/>
                <a:sym typeface="Roboto Bold"/>
              </a:rPr>
              <a:t>Some systems do not provide detailed model performance comparison.</a:t>
            </a:r>
          </a:p>
          <a:p>
            <a:pPr algn="l" marL="521683" indent="-260842" lvl="1">
              <a:lnSpc>
                <a:spcPts val="3382"/>
              </a:lnSpc>
              <a:buFont typeface="Arial"/>
              <a:buChar char="•"/>
            </a:pPr>
            <a:r>
              <a:rPr lang="en-US" b="true" sz="2416" spc="48">
                <a:solidFill>
                  <a:srgbClr val="000000"/>
                </a:solidFill>
                <a:latin typeface="Roboto Bold"/>
                <a:ea typeface="Roboto Bold"/>
                <a:cs typeface="Roboto Bold"/>
                <a:sym typeface="Roboto Bold"/>
              </a:rPr>
              <a:t>It can be difficult to identify which ML model gives the best prediction.</a:t>
            </a:r>
          </a:p>
          <a:p>
            <a:pPr algn="l">
              <a:lnSpc>
                <a:spcPts val="3382"/>
              </a:lnSpc>
              <a:spcBef>
                <a:spcPct val="0"/>
              </a:spcBef>
            </a:pPr>
          </a:p>
        </p:txBody>
      </p:sp>
      <p:sp>
        <p:nvSpPr>
          <p:cNvPr name="Freeform 9" id="9"/>
          <p:cNvSpPr/>
          <p:nvPr/>
        </p:nvSpPr>
        <p:spPr>
          <a:xfrm flipH="false" flipV="false" rot="0">
            <a:off x="493776" y="6393807"/>
            <a:ext cx="14400749" cy="3503019"/>
          </a:xfrm>
          <a:custGeom>
            <a:avLst/>
            <a:gdLst/>
            <a:ahLst/>
            <a:cxnLst/>
            <a:rect r="r" b="b" t="t" l="l"/>
            <a:pathLst>
              <a:path h="3503019" w="14400749">
                <a:moveTo>
                  <a:pt x="0" y="0"/>
                </a:moveTo>
                <a:lnTo>
                  <a:pt x="14400749" y="0"/>
                </a:lnTo>
                <a:lnTo>
                  <a:pt x="14400749" y="3503019"/>
                </a:lnTo>
                <a:lnTo>
                  <a:pt x="0" y="3503019"/>
                </a:lnTo>
                <a:lnTo>
                  <a:pt x="0" y="0"/>
                </a:lnTo>
                <a:close/>
              </a:path>
            </a:pathLst>
          </a:custGeom>
          <a:blipFill>
            <a:blip r:embed="rId4"/>
            <a:stretch>
              <a:fillRect l="0" t="-15312" r="0" b="-59412"/>
            </a:stretch>
          </a:blipFill>
        </p:spPr>
      </p:sp>
      <p:sp>
        <p:nvSpPr>
          <p:cNvPr name="TextBox 10" id="10"/>
          <p:cNvSpPr txBox="true"/>
          <p:nvPr/>
        </p:nvSpPr>
        <p:spPr>
          <a:xfrm rot="0">
            <a:off x="713232" y="7303619"/>
            <a:ext cx="14602793" cy="2602393"/>
          </a:xfrm>
          <a:prstGeom prst="rect">
            <a:avLst/>
          </a:prstGeom>
        </p:spPr>
        <p:txBody>
          <a:bodyPr anchor="t" rtlCol="false" tIns="0" lIns="0" bIns="0" rIns="0">
            <a:spAutoFit/>
          </a:bodyPr>
          <a:lstStyle/>
          <a:p>
            <a:pPr algn="l" marL="522479" indent="-261239" lvl="1">
              <a:lnSpc>
                <a:spcPts val="3388"/>
              </a:lnSpc>
              <a:buFont typeface="Arial"/>
              <a:buChar char="•"/>
            </a:pPr>
            <a:r>
              <a:rPr lang="en-US" b="true" sz="2420" spc="48">
                <a:solidFill>
                  <a:srgbClr val="000000"/>
                </a:solidFill>
                <a:latin typeface="Roboto Bold"/>
                <a:ea typeface="Roboto Bold"/>
                <a:cs typeface="Roboto Bold"/>
                <a:sym typeface="Roboto Bold"/>
              </a:rPr>
              <a:t>Model Comparison Gap: Need to compare multiple regression models.</a:t>
            </a:r>
          </a:p>
          <a:p>
            <a:pPr algn="l" marL="522479" indent="-261239" lvl="1">
              <a:lnSpc>
                <a:spcPts val="3388"/>
              </a:lnSpc>
              <a:buFont typeface="Arial"/>
              <a:buChar char="•"/>
            </a:pPr>
            <a:r>
              <a:rPr lang="en-US" b="true" sz="2420" spc="48">
                <a:solidFill>
                  <a:srgbClr val="000000"/>
                </a:solidFill>
                <a:latin typeface="Roboto Bold"/>
                <a:ea typeface="Roboto Bold"/>
                <a:cs typeface="Roboto Bold"/>
                <a:sym typeface="Roboto Bold"/>
              </a:rPr>
              <a:t>Data Preprocessing Gap: Need proper handling of missing, duplicate, and inconsistent data.</a:t>
            </a:r>
          </a:p>
          <a:p>
            <a:pPr algn="l" marL="522479" indent="-261239" lvl="1">
              <a:lnSpc>
                <a:spcPts val="3388"/>
              </a:lnSpc>
              <a:buFont typeface="Arial"/>
              <a:buChar char="•"/>
            </a:pPr>
            <a:r>
              <a:rPr lang="en-US" b="true" sz="2420" spc="48">
                <a:solidFill>
                  <a:srgbClr val="000000"/>
                </a:solidFill>
                <a:latin typeface="Roboto Bold"/>
                <a:ea typeface="Roboto Bold"/>
                <a:cs typeface="Roboto Bold"/>
                <a:sym typeface="Roboto Bold"/>
              </a:rPr>
              <a:t>Factor Analysis Gap: Need to analyze which factors strongly influence insurance charges.</a:t>
            </a:r>
          </a:p>
          <a:p>
            <a:pPr algn="l" marL="522479" indent="-261239" lvl="1">
              <a:lnSpc>
                <a:spcPts val="3388"/>
              </a:lnSpc>
              <a:buFont typeface="Arial"/>
              <a:buChar char="•"/>
            </a:pPr>
            <a:r>
              <a:rPr lang="en-US" b="true" sz="2420" spc="48">
                <a:solidFill>
                  <a:srgbClr val="000000"/>
                </a:solidFill>
                <a:latin typeface="Roboto Bold"/>
                <a:ea typeface="Roboto Bold"/>
                <a:cs typeface="Roboto Bold"/>
                <a:sym typeface="Roboto Bold"/>
              </a:rPr>
              <a:t>Evaluation Gap: Need to evaluate models using MAE, RMSE, and R².</a:t>
            </a:r>
          </a:p>
          <a:p>
            <a:pPr algn="l" marL="522479" indent="-261239" lvl="1">
              <a:lnSpc>
                <a:spcPts val="3388"/>
              </a:lnSpc>
              <a:buFont typeface="Arial"/>
              <a:buChar char="•"/>
            </a:pPr>
            <a:r>
              <a:rPr lang="en-US" b="true" sz="2420" spc="48">
                <a:solidFill>
                  <a:srgbClr val="000000"/>
                </a:solidFill>
                <a:latin typeface="Roboto Bold"/>
                <a:ea typeface="Roboto Bold"/>
                <a:cs typeface="Roboto Bold"/>
                <a:sym typeface="Roboto Bold"/>
              </a:rPr>
              <a:t>Best Model Selection Gap: Need to select the most suitable model based on performance.</a:t>
            </a:r>
          </a:p>
          <a:p>
            <a:pPr algn="l">
              <a:lnSpc>
                <a:spcPts val="3734"/>
              </a:lnSpc>
              <a:spcBef>
                <a:spcPct val="0"/>
              </a:spcBef>
            </a:pPr>
          </a:p>
        </p:txBody>
      </p:sp>
      <p:sp>
        <p:nvSpPr>
          <p:cNvPr name="Freeform 11" id="11"/>
          <p:cNvSpPr/>
          <p:nvPr/>
        </p:nvSpPr>
        <p:spPr>
          <a:xfrm flipH="false" flipV="false" rot="0">
            <a:off x="747887" y="6384282"/>
            <a:ext cx="3324078" cy="881237"/>
          </a:xfrm>
          <a:custGeom>
            <a:avLst/>
            <a:gdLst/>
            <a:ahLst/>
            <a:cxnLst/>
            <a:rect r="r" b="b" t="t" l="l"/>
            <a:pathLst>
              <a:path h="881237" w="3324078">
                <a:moveTo>
                  <a:pt x="0" y="0"/>
                </a:moveTo>
                <a:lnTo>
                  <a:pt x="3324077" y="0"/>
                </a:lnTo>
                <a:lnTo>
                  <a:pt x="3324077" y="881237"/>
                </a:lnTo>
                <a:lnTo>
                  <a:pt x="0" y="881237"/>
                </a:lnTo>
                <a:lnTo>
                  <a:pt x="0" y="0"/>
                </a:lnTo>
                <a:close/>
              </a:path>
            </a:pathLst>
          </a:custGeom>
          <a:blipFill>
            <a:blip r:embed="rId6"/>
            <a:stretch>
              <a:fillRect l="-10808" t="0" r="-5371" b="0"/>
            </a:stretch>
          </a:blipFill>
        </p:spPr>
      </p:sp>
      <p:sp>
        <p:nvSpPr>
          <p:cNvPr name="TextBox 12" id="12"/>
          <p:cNvSpPr txBox="true"/>
          <p:nvPr/>
        </p:nvSpPr>
        <p:spPr>
          <a:xfrm rot="0">
            <a:off x="493776" y="2715574"/>
            <a:ext cx="2990088" cy="465653"/>
          </a:xfrm>
          <a:prstGeom prst="rect">
            <a:avLst/>
          </a:prstGeom>
        </p:spPr>
        <p:txBody>
          <a:bodyPr anchor="t" rtlCol="false" tIns="0" lIns="0" bIns="0" rIns="0">
            <a:spAutoFit/>
          </a:bodyPr>
          <a:lstStyle/>
          <a:p>
            <a:pPr algn="ctr">
              <a:lnSpc>
                <a:spcPts val="3734"/>
              </a:lnSpc>
              <a:spcBef>
                <a:spcPct val="0"/>
              </a:spcBef>
            </a:pPr>
          </a:p>
        </p:txBody>
      </p:sp>
      <p:sp>
        <p:nvSpPr>
          <p:cNvPr name="TextBox 13" id="13"/>
          <p:cNvSpPr txBox="true"/>
          <p:nvPr/>
        </p:nvSpPr>
        <p:spPr>
          <a:xfrm rot="0">
            <a:off x="713232" y="6641457"/>
            <a:ext cx="2990088" cy="465653"/>
          </a:xfrm>
          <a:prstGeom prst="rect">
            <a:avLst/>
          </a:prstGeom>
        </p:spPr>
        <p:txBody>
          <a:bodyPr anchor="t" rtlCol="false" tIns="0" lIns="0" bIns="0" rIns="0">
            <a:spAutoFit/>
          </a:bodyPr>
          <a:lstStyle/>
          <a:p>
            <a:pPr algn="ctr">
              <a:lnSpc>
                <a:spcPts val="3734"/>
              </a:lnSpc>
              <a:spcBef>
                <a:spcPct val="0"/>
              </a:spcBef>
            </a:pPr>
            <a:r>
              <a:rPr lang="en-US" b="true" sz="2667" spc="53">
                <a:solidFill>
                  <a:srgbClr val="FFFFFF"/>
                </a:solidFill>
                <a:latin typeface="Roboto Bold"/>
                <a:ea typeface="Roboto Bold"/>
                <a:cs typeface="Roboto Bold"/>
                <a:sym typeface="Roboto Bold"/>
              </a:rPr>
              <a:t>Research Gaps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DAHVLXti4TE</dc:identifier>
  <dcterms:modified xsi:type="dcterms:W3CDTF">2011-08-01T06:04:30Z</dcterms:modified>
  <cp:revision>1</cp:revision>
  <dc:title>Medical Insurance Cost Predictor</dc:title>
</cp:coreProperties>
</file>